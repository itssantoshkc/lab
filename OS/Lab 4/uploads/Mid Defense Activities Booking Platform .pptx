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4" r:id="rId9"/>
    <p:sldId id="279" r:id="rId10"/>
    <p:sldId id="265" r:id="rId11"/>
    <p:sldId id="266" r:id="rId12"/>
    <p:sldId id="278" r:id="rId13"/>
    <p:sldId id="267" r:id="rId14"/>
    <p:sldId id="285" r:id="rId15"/>
    <p:sldId id="268" r:id="rId16"/>
    <p:sldId id="269" r:id="rId17"/>
    <p:sldId id="270" r:id="rId18"/>
    <p:sldId id="271" r:id="rId19"/>
    <p:sldId id="286" r:id="rId20"/>
    <p:sldId id="287" r:id="rId21"/>
    <p:sldId id="280" r:id="rId22"/>
    <p:sldId id="282" r:id="rId23"/>
    <p:sldId id="281" r:id="rId24"/>
    <p:sldId id="284" r:id="rId25"/>
    <p:sldId id="273" r:id="rId26"/>
    <p:sldId id="288" r:id="rId27"/>
    <p:sldId id="289" r:id="rId28"/>
    <p:sldId id="275" r:id="rId29"/>
    <p:sldId id="276" r:id="rId30"/>
    <p:sldId id="277" r:id="rId31"/>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Click to edit Master title style</a:t>
            </a: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tIns="0" rIns="0" bIns="0" anchor="ctr">
            <a:spAutoFit/>
          </a:bodyPr>
          <a:lstStyle/>
          <a:p>
            <a:pPr indent="0" algn="ctr">
              <a:buNone/>
            </a:pPr>
            <a:r>
              <a:rPr lang="en-US" sz="3200" b="0" u="none" strike="noStrike">
                <a:solidFill>
                  <a:srgbClr val="000000"/>
                </a:solidFill>
                <a:effectLst/>
                <a:uFillTx/>
                <a:latin typeface="Arial"/>
              </a:rPr>
              <a:t>Click to edit Master subtitle style</a:t>
            </a: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54E7E9AC-952F-4A0B-AAFE-F1DFE7E4B068}"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72CBE5EB-2824-4DAF-BFFE-EC0F856FBC7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laceHolder 1"/>
          <p:cNvSpPr>
            <a:spLocks noGrp="1"/>
          </p:cNvSpPr>
          <p:nvPr>
            <p:ph type="title"/>
          </p:nvPr>
        </p:nvSpPr>
        <p:spPr>
          <a:xfrm>
            <a:off x="1828800" y="1164002"/>
            <a:ext cx="6400800" cy="1329595"/>
          </a:xfrm>
          <a:prstGeom prst="rect">
            <a:avLst/>
          </a:prstGeom>
          <a:noFill/>
          <a:ln w="0">
            <a:noFill/>
          </a:ln>
        </p:spPr>
        <p:txBody>
          <a:bodyPr lIns="0" tIns="0" rIns="0" bIns="0" anchor="ctr" anchorCtr="1">
            <a:spAutoFit/>
          </a:bodyPr>
          <a:lstStyle/>
          <a:p>
            <a:pPr indent="0" algn="ctr">
              <a:buNone/>
            </a:pPr>
            <a:r>
              <a:rPr lang="en-US" sz="4800" b="1" u="none" strike="noStrike" dirty="0">
                <a:solidFill>
                  <a:srgbClr val="000000"/>
                </a:solidFill>
                <a:effectLst/>
                <a:uFillTx/>
                <a:latin typeface="Times New Roman" panose="02020603050405020304" pitchFamily="18" charset="0"/>
                <a:cs typeface="Times New Roman" panose="02020603050405020304" pitchFamily="18" charset="0"/>
              </a:rPr>
              <a:t>Activities Booking Platform</a:t>
            </a:r>
            <a:endParaRPr lang="en-US" sz="4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0" name="PlaceHolder 2"/>
          <p:cNvSpPr>
            <a:spLocks noGrp="1"/>
          </p:cNvSpPr>
          <p:nvPr>
            <p:ph type="subTitle"/>
          </p:nvPr>
        </p:nvSpPr>
        <p:spPr>
          <a:xfrm>
            <a:off x="493200" y="3185104"/>
            <a:ext cx="9071640" cy="1173591"/>
          </a:xfrm>
          <a:prstGeom prst="rect">
            <a:avLst/>
          </a:prstGeom>
          <a:noFill/>
          <a:ln w="0">
            <a:noFill/>
          </a:ln>
        </p:spPr>
        <p:txBody>
          <a:bodyPr lIns="0" tIns="0" rIns="0" bIns="0" anchor="ctr" anchorCtr="1">
            <a:spAutoFit/>
          </a:bodyPr>
          <a:lstStyle/>
          <a:p>
            <a:pPr indent="0" algn="ctr">
              <a:lnSpc>
                <a:spcPct val="115000"/>
              </a:lnSpc>
              <a:buNone/>
            </a:pPr>
            <a:r>
              <a:rPr lang="en-US" sz="2600" b="1" dirty="0">
                <a:solidFill>
                  <a:srgbClr val="000000"/>
                </a:solidFill>
                <a:latin typeface="Times New Roman" panose="02020603050405020304" pitchFamily="18" charset="0"/>
                <a:cs typeface="Times New Roman" panose="02020603050405020304" pitchFamily="18" charset="0"/>
              </a:rPr>
              <a:t>MID DEFENSE PRESENTATION </a:t>
            </a:r>
            <a:r>
              <a:rPr lang="en-US" sz="2600" b="1" u="none" strike="noStrike" dirty="0">
                <a:solidFill>
                  <a:srgbClr val="000000"/>
                </a:solidFill>
                <a:effectLst/>
                <a:uFillTx/>
                <a:latin typeface="Times New Roman" panose="02020603050405020304" pitchFamily="18" charset="0"/>
                <a:cs typeface="Times New Roman" panose="02020603050405020304" pitchFamily="18" charset="0"/>
              </a:rPr>
              <a:t>BY</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0" algn="ctr">
              <a:lnSpc>
                <a:spcPct val="115000"/>
              </a:lnSpc>
              <a:buNone/>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Santosh K.C.</a:t>
            </a:r>
          </a:p>
          <a:p>
            <a:pPr indent="0" algn="ctr">
              <a:lnSpc>
                <a:spcPct val="115000"/>
              </a:lnSpc>
              <a:buNone/>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Abhishek Thakur</a:t>
            </a:r>
          </a:p>
        </p:txBody>
      </p:sp>
      <p:cxnSp>
        <p:nvCxnSpPr>
          <p:cNvPr id="2" name="Straight Connector 1">
            <a:extLst>
              <a:ext uri="{FF2B5EF4-FFF2-40B4-BE49-F238E27FC236}">
                <a16:creationId xmlns:a16="http://schemas.microsoft.com/office/drawing/2014/main" id="{004B7133-5FDE-E145-3438-5AADAFD8C1A5}"/>
              </a:ext>
            </a:extLst>
          </p:cNvPr>
          <p:cNvCxnSpPr>
            <a:cxnSpLocks/>
          </p:cNvCxnSpPr>
          <p:nvPr/>
        </p:nvCxnSpPr>
        <p:spPr>
          <a:xfrm>
            <a:off x="493200" y="27432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57200" y="457200"/>
            <a:ext cx="9144000" cy="1260430"/>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Outline</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a:p>
            <a:endParaRPr lang="en-US" sz="2200" b="0" u="none" strike="noStrike" dirty="0">
              <a:solidFill>
                <a:srgbClr val="000000"/>
              </a:solidFill>
              <a:effectLst/>
              <a:uFillTx/>
              <a:latin typeface="Times New Roman" panose="02020603050405020304" pitchFamily="18" charset="0"/>
              <a:cs typeface="Times New Roman" panose="02020603050405020304" pitchFamily="18" charset="0"/>
            </a:endParaRPr>
          </a:p>
          <a:p>
            <a:endParaRPr lang="en-US" sz="2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15" name="Picture 14"/>
          <p:cNvPicPr/>
          <p:nvPr/>
        </p:nvPicPr>
        <p:blipFill>
          <a:blip r:embed="rId2"/>
          <a:srcRect l="2124" t="250090" r="2156" b="250270"/>
          <a:stretch/>
        </p:blipFill>
        <p:spPr>
          <a:xfrm>
            <a:off x="529200" y="950400"/>
            <a:ext cx="9418320" cy="0"/>
          </a:xfrm>
          <a:prstGeom prst="rect">
            <a:avLst/>
          </a:prstGeom>
          <a:solidFill>
            <a:srgbClr val="000000"/>
          </a:solidFill>
          <a:ln w="0">
            <a:noFill/>
          </a:ln>
        </p:spPr>
      </p:pic>
      <p:sp>
        <p:nvSpPr>
          <p:cNvPr id="16" name="TextBox 15"/>
          <p:cNvSpPr txBox="1"/>
          <p:nvPr/>
        </p:nvSpPr>
        <p:spPr>
          <a:xfrm>
            <a:off x="457200" y="1142640"/>
            <a:ext cx="8686800" cy="3777466"/>
          </a:xfrm>
          <a:prstGeom prst="rect">
            <a:avLst/>
          </a:prstGeom>
          <a:noFill/>
          <a:ln w="0">
            <a:noFill/>
          </a:ln>
        </p:spPr>
        <p:txBody>
          <a:bodyPr lIns="90000" tIns="45000" rIns="90000" bIns="45000" anchor="t">
            <a:spAutoFit/>
          </a:bodyPr>
          <a:lstStyle/>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Introduction</a:t>
            </a:r>
          </a:p>
          <a:p>
            <a:pPr marL="216000" indent="-216000">
              <a:lnSpc>
                <a:spcPct val="115000"/>
              </a:lnSpc>
              <a:buClr>
                <a:srgbClr val="000000"/>
              </a:buClr>
              <a:buSzPct val="45000"/>
              <a:buFont typeface="Wingdings" charset="2"/>
              <a:buChar char=""/>
            </a:pPr>
            <a:r>
              <a:rPr lang="en-US" sz="2100" dirty="0">
                <a:solidFill>
                  <a:srgbClr val="000000"/>
                </a:solidFill>
                <a:latin typeface="Times New Roman" panose="02020603050405020304" pitchFamily="18" charset="0"/>
                <a:cs typeface="Times New Roman" panose="02020603050405020304" pitchFamily="18" charset="0"/>
              </a:rPr>
              <a:t>Objective</a:t>
            </a:r>
            <a:endParaRPr lang="en-US" sz="21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Problem Statement</a:t>
            </a:r>
          </a:p>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Literature Review / Background Study</a:t>
            </a:r>
          </a:p>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Methodology</a:t>
            </a:r>
          </a:p>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Tools and Technology</a:t>
            </a:r>
            <a:endParaRPr lang="en-US" sz="2100" dirty="0">
              <a:solidFill>
                <a:srgbClr val="000000"/>
              </a:solidFill>
              <a:latin typeface="Times New Roman" panose="02020603050405020304" pitchFamily="18" charset="0"/>
              <a:cs typeface="Times New Roman" panose="02020603050405020304" pitchFamily="18" charset="0"/>
            </a:endParaRPr>
          </a:p>
          <a:p>
            <a:pPr marL="216000" indent="-216000">
              <a:lnSpc>
                <a:spcPct val="115000"/>
              </a:lnSpc>
              <a:buClr>
                <a:srgbClr val="000000"/>
              </a:buClr>
              <a:buSzPct val="45000"/>
              <a:buFont typeface="Wingdings" charset="2"/>
              <a:buChar char=""/>
            </a:pPr>
            <a:r>
              <a:rPr lang="en-US" sz="2100" dirty="0">
                <a:latin typeface="Times New Roman" panose="02020603050405020304" pitchFamily="18" charset="0"/>
                <a:cs typeface="Times New Roman" panose="02020603050405020304" pitchFamily="18" charset="0"/>
              </a:rPr>
              <a:t>Tasks Completed</a:t>
            </a:r>
          </a:p>
          <a:p>
            <a:pPr marL="216000" indent="-216000">
              <a:lnSpc>
                <a:spcPct val="115000"/>
              </a:lnSpc>
              <a:buClr>
                <a:srgbClr val="000000"/>
              </a:buClr>
              <a:buSzPct val="45000"/>
              <a:buFont typeface="Wingdings" charset="2"/>
              <a:buChar char=""/>
            </a:pPr>
            <a:r>
              <a:rPr lang="en-US" sz="2100" dirty="0">
                <a:latin typeface="Times New Roman" panose="02020603050405020304" pitchFamily="18" charset="0"/>
                <a:cs typeface="Times New Roman" panose="02020603050405020304" pitchFamily="18" charset="0"/>
              </a:rPr>
              <a:t>Tasks Pending</a:t>
            </a:r>
          </a:p>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Conclusion </a:t>
            </a:r>
          </a:p>
          <a:p>
            <a:pPr marL="216000" indent="-216000">
              <a:lnSpc>
                <a:spcPct val="115000"/>
              </a:lnSpc>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Reference</a:t>
            </a:r>
          </a:p>
        </p:txBody>
      </p:sp>
      <p:sp>
        <p:nvSpPr>
          <p:cNvPr id="2" name="PlaceHolder 1"/>
          <p:cNvSpPr>
            <a:spLocks noGrp="1"/>
          </p:cNvSpPr>
          <p:nvPr>
            <p:ph type="sldNum" idx="3"/>
          </p:nvPr>
        </p:nvSpPr>
        <p:spPr/>
        <p:txBody>
          <a:bodyPr/>
          <a:lstStyle/>
          <a:p>
            <a:r>
              <a:rPr dirty="0"/>
              <a:t>1</a:t>
            </a:r>
          </a:p>
        </p:txBody>
      </p:sp>
      <p:cxnSp>
        <p:nvCxnSpPr>
          <p:cNvPr id="7" name="Straight Connector 6">
            <a:extLst>
              <a:ext uri="{FF2B5EF4-FFF2-40B4-BE49-F238E27FC236}">
                <a16:creationId xmlns:a16="http://schemas.microsoft.com/office/drawing/2014/main" id="{58952227-7ECD-DCA4-41D9-79BF032D89CB}"/>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457200" y="457200"/>
            <a:ext cx="9144000" cy="583321"/>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Introduction</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0" name="TextBox 19"/>
          <p:cNvSpPr txBox="1"/>
          <p:nvPr/>
        </p:nvSpPr>
        <p:spPr>
          <a:xfrm>
            <a:off x="457200" y="1142640"/>
            <a:ext cx="8686800" cy="2353037"/>
          </a:xfrm>
          <a:prstGeom prst="rect">
            <a:avLst/>
          </a:prstGeom>
          <a:noFill/>
          <a:ln w="0">
            <a:noFill/>
          </a:ln>
        </p:spPr>
        <p:txBody>
          <a:bodyPr lIns="90000" tIns="45000" rIns="90000" bIns="45000" anchor="t">
            <a:spAutoFit/>
          </a:bodyPr>
          <a:lstStyle/>
          <a:p>
            <a:pPr algn="just">
              <a:spcBef>
                <a:spcPts val="1191"/>
              </a:spcBef>
              <a:spcAft>
                <a:spcPts val="992"/>
              </a:spcAft>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Activities Booking Platform is a website that enables users to easily discover and reserve diverse recreational experiences in one place. In Nepal, abundant adventure sports, cultural workshops, and leisure activities are often difficult to access due to fragmented booking through agencies</a:t>
            </a:r>
            <a:r>
              <a:rPr lang="en-US" sz="2100" dirty="0">
                <a:solidFill>
                  <a:srgbClr val="000000"/>
                </a:solidFill>
                <a:latin typeface="Times New Roman" panose="02020603050405020304" pitchFamily="18" charset="0"/>
                <a:cs typeface="Times New Roman" panose="02020603050405020304" pitchFamily="18" charset="0"/>
              </a:rPr>
              <a:t> </a:t>
            </a: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or phone calls. This project aims to build an integrated platform that offers a seamless, convenient experience for users and  business for managing and booking those activities.</a:t>
            </a:r>
          </a:p>
        </p:txBody>
      </p:sp>
      <p:sp>
        <p:nvSpPr>
          <p:cNvPr id="2" name="PlaceHolder 1"/>
          <p:cNvSpPr>
            <a:spLocks noGrp="1"/>
          </p:cNvSpPr>
          <p:nvPr>
            <p:ph type="sldNum" idx="3"/>
          </p:nvPr>
        </p:nvSpPr>
        <p:spPr/>
        <p:txBody>
          <a:bodyPr/>
          <a:lstStyle/>
          <a:p>
            <a:r>
              <a:rPr dirty="0"/>
              <a:t>2</a:t>
            </a:r>
          </a:p>
        </p:txBody>
      </p:sp>
      <p:cxnSp>
        <p:nvCxnSpPr>
          <p:cNvPr id="3" name="Straight Connector 2">
            <a:extLst>
              <a:ext uri="{FF2B5EF4-FFF2-40B4-BE49-F238E27FC236}">
                <a16:creationId xmlns:a16="http://schemas.microsoft.com/office/drawing/2014/main" id="{FB2AA72D-A0CC-F380-A92C-0375C84A9DE9}"/>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457200" y="457200"/>
            <a:ext cx="9144000" cy="583321"/>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Problem Statement</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4" name="TextBox 23"/>
          <p:cNvSpPr txBox="1"/>
          <p:nvPr/>
        </p:nvSpPr>
        <p:spPr>
          <a:xfrm>
            <a:off x="457200" y="1142640"/>
            <a:ext cx="8723520" cy="2229926"/>
          </a:xfrm>
          <a:prstGeom prst="rect">
            <a:avLst/>
          </a:prstGeom>
          <a:noFill/>
          <a:ln w="0">
            <a:noFill/>
          </a:ln>
        </p:spPr>
        <p:txBody>
          <a:bodyPr lIns="90000" tIns="45000" rIns="90000" bIns="45000" anchor="t">
            <a:spAutoFit/>
          </a:bodyPr>
          <a:lstStyle/>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Booking recreational activities in Nepal is fragmented and mostly offline.</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Global platforms cover only limited activities and miss local experiences.</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Users face difficulty in discovering, and reserving activities.</a:t>
            </a:r>
          </a:p>
          <a:p>
            <a:pPr marL="216000" indent="-216000" algn="just">
              <a:spcBef>
                <a:spcPts val="1191"/>
              </a:spcBef>
              <a:spcAft>
                <a:spcPts val="992"/>
              </a:spcAft>
              <a:buClr>
                <a:srgbClr val="000000"/>
              </a:buClr>
              <a:buSzPct val="45000"/>
              <a:buFont typeface="Wingdings" charset="2"/>
              <a:buChar char=""/>
            </a:pPr>
            <a:r>
              <a:rPr lang="en-US" sz="2100" dirty="0">
                <a:solidFill>
                  <a:srgbClr val="000000"/>
                </a:solidFill>
                <a:latin typeface="Times New Roman" panose="02020603050405020304" pitchFamily="18" charset="0"/>
                <a:cs typeface="Times New Roman" panose="02020603050405020304" pitchFamily="18" charset="0"/>
              </a:rPr>
              <a:t>B</a:t>
            </a: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usinesses struggle with reaching customers and managing reservations.</a:t>
            </a:r>
          </a:p>
        </p:txBody>
      </p:sp>
      <p:sp>
        <p:nvSpPr>
          <p:cNvPr id="2" name="PlaceHolder 1"/>
          <p:cNvSpPr>
            <a:spLocks noGrp="1"/>
          </p:cNvSpPr>
          <p:nvPr>
            <p:ph type="sldNum" idx="3"/>
          </p:nvPr>
        </p:nvSpPr>
        <p:spPr/>
        <p:txBody>
          <a:bodyPr/>
          <a:lstStyle/>
          <a:p>
            <a:r>
              <a:rPr dirty="0"/>
              <a:t>3</a:t>
            </a:r>
          </a:p>
        </p:txBody>
      </p:sp>
      <p:cxnSp>
        <p:nvCxnSpPr>
          <p:cNvPr id="4" name="Straight Connector 3">
            <a:extLst>
              <a:ext uri="{FF2B5EF4-FFF2-40B4-BE49-F238E27FC236}">
                <a16:creationId xmlns:a16="http://schemas.microsoft.com/office/drawing/2014/main" id="{F57018A9-9263-7BFC-FB24-25639040112D}"/>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457200" y="457200"/>
            <a:ext cx="9144000" cy="583321"/>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Objective</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8" name="TextBox 27"/>
          <p:cNvSpPr txBox="1"/>
          <p:nvPr/>
        </p:nvSpPr>
        <p:spPr>
          <a:xfrm>
            <a:off x="457200" y="1142640"/>
            <a:ext cx="8723520" cy="2553091"/>
          </a:xfrm>
          <a:prstGeom prst="rect">
            <a:avLst/>
          </a:prstGeom>
          <a:noFill/>
          <a:ln w="0">
            <a:noFill/>
          </a:ln>
        </p:spPr>
        <p:txBody>
          <a:bodyPr lIns="90000" tIns="45000" rIns="90000" bIns="45000" anchor="t">
            <a:spAutoFit/>
          </a:bodyPr>
          <a:lstStyle/>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Create a centralized platform to search, and book activities in Nepal.</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Help businesses gain visibility and manage bookings online.</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Ensure a user-friendly interface with trust through verified listings and reviews.</a:t>
            </a:r>
          </a:p>
          <a:p>
            <a:pPr marL="216000" indent="-216000" algn="just">
              <a:spcBef>
                <a:spcPts val="1191"/>
              </a:spcBef>
              <a:spcAft>
                <a:spcPts val="992"/>
              </a:spcAft>
              <a:buClr>
                <a:srgbClr val="000000"/>
              </a:buClr>
              <a:buSzPct val="45000"/>
              <a:buFont typeface="Wingdings" charset="2"/>
              <a:buChar char=""/>
            </a:pPr>
            <a:r>
              <a:rPr lang="en-US" sz="2100" dirty="0">
                <a:solidFill>
                  <a:srgbClr val="000000"/>
                </a:solidFill>
                <a:latin typeface="Times New Roman" panose="02020603050405020304" pitchFamily="18" charset="0"/>
                <a:cs typeface="Times New Roman" panose="02020603050405020304" pitchFamily="18" charset="0"/>
              </a:rPr>
              <a:t>Provide a secure platform where the user data are secured</a:t>
            </a:r>
          </a:p>
        </p:txBody>
      </p:sp>
      <p:sp>
        <p:nvSpPr>
          <p:cNvPr id="2" name="PlaceHolder 1"/>
          <p:cNvSpPr>
            <a:spLocks noGrp="1"/>
          </p:cNvSpPr>
          <p:nvPr>
            <p:ph type="sldNum" idx="3"/>
          </p:nvPr>
        </p:nvSpPr>
        <p:spPr/>
        <p:txBody>
          <a:bodyPr/>
          <a:lstStyle/>
          <a:p>
            <a:r>
              <a:rPr dirty="0"/>
              <a:t>4</a:t>
            </a:r>
          </a:p>
        </p:txBody>
      </p:sp>
      <p:cxnSp>
        <p:nvCxnSpPr>
          <p:cNvPr id="3" name="Straight Connector 2">
            <a:extLst>
              <a:ext uri="{FF2B5EF4-FFF2-40B4-BE49-F238E27FC236}">
                <a16:creationId xmlns:a16="http://schemas.microsoft.com/office/drawing/2014/main" id="{9DD0F292-9C5E-1C14-C37E-AFACF752EE55}"/>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428400" y="362040"/>
            <a:ext cx="9144000" cy="583321"/>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Literature Review/ Background Study</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6" name="TextBox 35"/>
          <p:cNvSpPr txBox="1"/>
          <p:nvPr/>
        </p:nvSpPr>
        <p:spPr>
          <a:xfrm>
            <a:off x="457200" y="1142640"/>
            <a:ext cx="8723520" cy="4374103"/>
          </a:xfrm>
          <a:prstGeom prst="rect">
            <a:avLst/>
          </a:prstGeom>
          <a:noFill/>
          <a:ln w="0">
            <a:noFill/>
          </a:ln>
        </p:spPr>
        <p:txBody>
          <a:bodyPr lIns="90000" tIns="45000" rIns="90000" bIns="45000" anchor="t">
            <a:spAutoFit/>
          </a:bodyPr>
          <a:lstStyle/>
          <a:p>
            <a:pPr algn="just">
              <a:spcBef>
                <a:spcPts val="1191"/>
              </a:spcBef>
              <a:spcAft>
                <a:spcPts val="992"/>
              </a:spcAft>
            </a:pPr>
            <a:r>
              <a:rPr lang="en-US" sz="2000" b="0" u="none" strike="noStrike" dirty="0" err="1">
                <a:solidFill>
                  <a:srgbClr val="000000"/>
                </a:solidFill>
                <a:effectLst/>
                <a:uFillTx/>
                <a:latin typeface="Times New Roman" panose="02020603050405020304" pitchFamily="18" charset="0"/>
                <a:cs typeface="Times New Roman" panose="02020603050405020304" pitchFamily="18" charset="0"/>
              </a:rPr>
              <a:t>Buhalis</a:t>
            </a:r>
            <a:r>
              <a:rPr lang="en-US" sz="2000" b="0" u="none" strike="noStrike" dirty="0">
                <a:solidFill>
                  <a:srgbClr val="000000"/>
                </a:solidFill>
                <a:effectLst/>
                <a:uFillTx/>
                <a:latin typeface="Times New Roman" panose="02020603050405020304" pitchFamily="18" charset="0"/>
                <a:cs typeface="Times New Roman" panose="02020603050405020304" pitchFamily="18" charset="0"/>
              </a:rPr>
              <a:t> and Law highlights how online tourism platforms have transformed booking processes globally by increasing convenience, transparency, and user trust through aggregated listings and reviews[1].</a:t>
            </a:r>
            <a:r>
              <a:rPr lang="en-US" sz="2000" b="0" u="none" strike="noStrike" dirty="0" err="1">
                <a:solidFill>
                  <a:srgbClr val="000000"/>
                </a:solidFill>
                <a:effectLst/>
                <a:uFillTx/>
                <a:latin typeface="Times New Roman" panose="02020603050405020304" pitchFamily="18" charset="0"/>
                <a:cs typeface="Times New Roman" panose="02020603050405020304" pitchFamily="18" charset="0"/>
              </a:rPr>
              <a:t>Maswera</a:t>
            </a:r>
            <a:r>
              <a:rPr lang="en-US" sz="2000" b="0" u="none" strike="noStrike" dirty="0">
                <a:solidFill>
                  <a:srgbClr val="000000"/>
                </a:solidFill>
                <a:effectLst/>
                <a:uFillTx/>
                <a:latin typeface="Times New Roman" panose="02020603050405020304" pitchFamily="18" charset="0"/>
                <a:cs typeface="Times New Roman" panose="02020603050405020304" pitchFamily="18" charset="0"/>
              </a:rPr>
              <a:t>, Dawson, and Edwards discusses e-commerce adoption challenges in African tourism markets, emphasizing the importance of localized features and digital strategies for improving visibility of regional businesses[2].</a:t>
            </a:r>
          </a:p>
          <a:p>
            <a:pPr algn="just">
              <a:spcBef>
                <a:spcPts val="1191"/>
              </a:spcBef>
              <a:spcAft>
                <a:spcPts val="992"/>
              </a:spcAft>
            </a:pPr>
            <a:r>
              <a:rPr lang="en-US" sz="2000" b="0" u="none" strike="noStrike" dirty="0">
                <a:solidFill>
                  <a:srgbClr val="000000"/>
                </a:solidFill>
                <a:effectLst/>
                <a:uFillTx/>
                <a:latin typeface="Times New Roman" panose="02020603050405020304" pitchFamily="18" charset="0"/>
                <a:cs typeface="Times New Roman" panose="02020603050405020304" pitchFamily="18" charset="0"/>
              </a:rPr>
              <a:t>Based on the study we hav</a:t>
            </a:r>
            <a:r>
              <a:rPr lang="en-US" sz="2000" dirty="0">
                <a:solidFill>
                  <a:srgbClr val="000000"/>
                </a:solidFill>
                <a:latin typeface="Times New Roman" panose="02020603050405020304" pitchFamily="18" charset="0"/>
                <a:cs typeface="Times New Roman" panose="02020603050405020304" pitchFamily="18" charset="0"/>
              </a:rPr>
              <a:t>e found </a:t>
            </a:r>
            <a:r>
              <a:rPr lang="en-US" sz="2000" b="0" u="none" strike="noStrike" dirty="0">
                <a:solidFill>
                  <a:srgbClr val="000000"/>
                </a:solidFill>
                <a:effectLst/>
                <a:uFillTx/>
                <a:latin typeface="Times New Roman" panose="02020603050405020304" pitchFamily="18" charset="0"/>
                <a:cs typeface="Times New Roman" panose="02020603050405020304" pitchFamily="18" charset="0"/>
              </a:rPr>
              <a:t>that online tourism platforms have significantly improved the global booking process by making it more convenient and transparent, while building user trust through reviews and aggregated listings. At the same time, the findings highlight that in developing tourism markets, particularly in Africa, successful adoption of these platforms depends heavily on localized digital strategies that address regional challenges and improve the visibility of local tourism businesses.</a:t>
            </a:r>
          </a:p>
        </p:txBody>
      </p:sp>
      <p:sp>
        <p:nvSpPr>
          <p:cNvPr id="2" name="PlaceHolder 1"/>
          <p:cNvSpPr>
            <a:spLocks noGrp="1"/>
          </p:cNvSpPr>
          <p:nvPr>
            <p:ph type="sldNum" idx="3"/>
          </p:nvPr>
        </p:nvSpPr>
        <p:spPr/>
        <p:txBody>
          <a:bodyPr/>
          <a:lstStyle/>
          <a:p>
            <a:r>
              <a:rPr lang="en-US" dirty="0"/>
              <a:t>5</a:t>
            </a:r>
            <a:endParaRPr dirty="0"/>
          </a:p>
        </p:txBody>
      </p:sp>
      <p:cxnSp>
        <p:nvCxnSpPr>
          <p:cNvPr id="3" name="Straight Connector 2">
            <a:extLst>
              <a:ext uri="{FF2B5EF4-FFF2-40B4-BE49-F238E27FC236}">
                <a16:creationId xmlns:a16="http://schemas.microsoft.com/office/drawing/2014/main" id="{F4F6D1F8-50D8-3CE2-6E08-DE0256312462}"/>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p:cNvSpPr txBox="1"/>
          <p:nvPr/>
        </p:nvSpPr>
        <p:spPr>
          <a:xfrm>
            <a:off x="208800" y="486365"/>
            <a:ext cx="28728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Methodology</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40" name="Picture 39"/>
          <p:cNvPicPr/>
          <p:nvPr/>
        </p:nvPicPr>
        <p:blipFill>
          <a:blip r:embed="rId2"/>
          <a:stretch/>
        </p:blipFill>
        <p:spPr>
          <a:xfrm>
            <a:off x="1639392" y="1177295"/>
            <a:ext cx="6801840" cy="3315960"/>
          </a:xfrm>
          <a:prstGeom prst="rect">
            <a:avLst/>
          </a:prstGeom>
          <a:noFill/>
          <a:ln w="0">
            <a:noFill/>
          </a:ln>
        </p:spPr>
      </p:pic>
      <p:sp>
        <p:nvSpPr>
          <p:cNvPr id="41" name="TextBox 40"/>
          <p:cNvSpPr txBox="1"/>
          <p:nvPr/>
        </p:nvSpPr>
        <p:spPr>
          <a:xfrm>
            <a:off x="3478092" y="4429080"/>
            <a:ext cx="3124440" cy="337100"/>
          </a:xfrm>
          <a:prstGeom prst="rect">
            <a:avLst/>
          </a:prstGeom>
          <a:noFill/>
          <a:ln w="0">
            <a:noFill/>
          </a:ln>
        </p:spPr>
        <p:txBody>
          <a:bodyPr lIns="90000" tIns="45000" rIns="90000" bIns="45000" anchor="t">
            <a:spAutoFit/>
          </a:bodyPr>
          <a:lstStyle/>
          <a:p>
            <a:pPr algn="ctr"/>
            <a:r>
              <a:rPr lang="en-US" sz="1600" b="0" u="none" strike="noStrike" dirty="0">
                <a:solidFill>
                  <a:srgbClr val="000000"/>
                </a:solidFill>
                <a:effectLst/>
                <a:uFillTx/>
                <a:latin typeface="Times New Roman" panose="02020603050405020304" pitchFamily="18" charset="0"/>
                <a:cs typeface="Times New Roman" panose="02020603050405020304" pitchFamily="18" charset="0"/>
              </a:rPr>
              <a:t>Figure 1: Waterfall Methodology</a:t>
            </a:r>
          </a:p>
        </p:txBody>
      </p:sp>
      <p:sp>
        <p:nvSpPr>
          <p:cNvPr id="2" name="PlaceHolder 1"/>
          <p:cNvSpPr>
            <a:spLocks noGrp="1"/>
          </p:cNvSpPr>
          <p:nvPr>
            <p:ph type="sldNum" idx="3"/>
          </p:nvPr>
        </p:nvSpPr>
        <p:spPr>
          <a:xfrm>
            <a:off x="7252920" y="5172480"/>
            <a:ext cx="2348280" cy="390600"/>
          </a:xfrm>
        </p:spPr>
        <p:txBody>
          <a:bodyPr/>
          <a:lstStyle/>
          <a:p>
            <a:r>
              <a:rPr lang="en-US" dirty="0"/>
              <a:t>6</a:t>
            </a:r>
            <a:endParaRPr dirty="0"/>
          </a:p>
        </p:txBody>
      </p:sp>
      <p:cxnSp>
        <p:nvCxnSpPr>
          <p:cNvPr id="3" name="Straight Connector 2">
            <a:extLst>
              <a:ext uri="{FF2B5EF4-FFF2-40B4-BE49-F238E27FC236}">
                <a16:creationId xmlns:a16="http://schemas.microsoft.com/office/drawing/2014/main" id="{5965D79A-31E3-474B-17AF-046AAAE3D17E}"/>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p:cNvSpPr txBox="1"/>
          <p:nvPr/>
        </p:nvSpPr>
        <p:spPr>
          <a:xfrm>
            <a:off x="102960" y="411359"/>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Requirement Analysis</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5" name="TextBox 44"/>
          <p:cNvSpPr txBox="1"/>
          <p:nvPr/>
        </p:nvSpPr>
        <p:spPr>
          <a:xfrm>
            <a:off x="457200" y="1142640"/>
            <a:ext cx="8723520" cy="3804716"/>
          </a:xfrm>
          <a:prstGeom prst="rect">
            <a:avLst/>
          </a:prstGeom>
          <a:noFill/>
          <a:ln w="0">
            <a:noFill/>
          </a:ln>
        </p:spPr>
        <p:txBody>
          <a:bodyPr wrap="square" lIns="90000" tIns="45000" rIns="90000" bIns="45000" anchor="t">
            <a:spAutoFit/>
          </a:bodyPr>
          <a:lstStyle/>
          <a:p>
            <a:pPr algn="just">
              <a:spcBef>
                <a:spcPts val="1191"/>
              </a:spcBef>
              <a:spcAft>
                <a:spcPts val="992"/>
              </a:spcAft>
              <a:buClr>
                <a:srgbClr val="000000"/>
              </a:buClr>
              <a:buSzPct val="45000"/>
            </a:pPr>
            <a:r>
              <a:rPr lang="en-US" sz="2100" b="1" u="none" strike="noStrike" dirty="0">
                <a:solidFill>
                  <a:srgbClr val="000000"/>
                </a:solidFill>
                <a:effectLst/>
                <a:uFillTx/>
                <a:latin typeface="Times New Roman" panose="02020603050405020304" pitchFamily="18" charset="0"/>
                <a:cs typeface="Times New Roman" panose="02020603050405020304" pitchFamily="18" charset="0"/>
              </a:rPr>
              <a:t>Functional Requirement</a:t>
            </a:r>
          </a:p>
          <a:p>
            <a:pPr marL="342900" indent="-342900" algn="just">
              <a:spcBef>
                <a:spcPts val="1191"/>
              </a:spcBef>
              <a:spcAft>
                <a:spcPts val="992"/>
              </a:spcAft>
              <a:buClr>
                <a:srgbClr val="000000"/>
              </a:buClr>
              <a:buSzPct val="45000"/>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shall allow users to search, and book diverse recreational activities in Nepal.</a:t>
            </a:r>
          </a:p>
          <a:p>
            <a:pPr marL="342900" indent="-342900" algn="just">
              <a:spcBef>
                <a:spcPts val="1191"/>
              </a:spcBef>
              <a:spcAft>
                <a:spcPts val="992"/>
              </a:spcAft>
              <a:buClr>
                <a:srgbClr val="000000"/>
              </a:buClr>
              <a:buSzPct val="45000"/>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shall enable service providers to list activities with details like type, cost, schedule, location, and safety guidelines.</a:t>
            </a:r>
            <a:endParaRPr lang="en-US" sz="2100" dirty="0">
              <a:solidFill>
                <a:srgbClr val="000000"/>
              </a:solidFill>
              <a:latin typeface="Times New Roman" panose="02020603050405020304" pitchFamily="18" charset="0"/>
              <a:cs typeface="Times New Roman" panose="02020603050405020304" pitchFamily="18" charset="0"/>
            </a:endParaRPr>
          </a:p>
          <a:p>
            <a:pPr marL="342900" indent="-342900" algn="just">
              <a:spcBef>
                <a:spcPts val="1191"/>
              </a:spcBef>
              <a:spcAft>
                <a:spcPts val="992"/>
              </a:spcAft>
              <a:buClr>
                <a:srgbClr val="000000"/>
              </a:buClr>
              <a:buSzPct val="45000"/>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Users shall be able to create and manage profiles with personal information and booking history.</a:t>
            </a:r>
          </a:p>
          <a:p>
            <a:pPr marL="342900" indent="-342900" algn="just">
              <a:spcBef>
                <a:spcPts val="1191"/>
              </a:spcBef>
              <a:spcAft>
                <a:spcPts val="992"/>
              </a:spcAft>
              <a:buClr>
                <a:srgbClr val="000000"/>
              </a:buClr>
              <a:buSzPct val="45000"/>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shall provide secure authentication for both users and providers.</a:t>
            </a:r>
          </a:p>
        </p:txBody>
      </p:sp>
      <p:sp>
        <p:nvSpPr>
          <p:cNvPr id="2" name="PlaceHolder 1"/>
          <p:cNvSpPr>
            <a:spLocks noGrp="1"/>
          </p:cNvSpPr>
          <p:nvPr>
            <p:ph type="sldNum" idx="3"/>
          </p:nvPr>
        </p:nvSpPr>
        <p:spPr/>
        <p:txBody>
          <a:bodyPr/>
          <a:lstStyle/>
          <a:p>
            <a:r>
              <a:rPr lang="en-US" dirty="0"/>
              <a:t>7</a:t>
            </a:r>
            <a:endParaRPr dirty="0"/>
          </a:p>
        </p:txBody>
      </p:sp>
      <p:cxnSp>
        <p:nvCxnSpPr>
          <p:cNvPr id="3" name="Straight Connector 2">
            <a:extLst>
              <a:ext uri="{FF2B5EF4-FFF2-40B4-BE49-F238E27FC236}">
                <a16:creationId xmlns:a16="http://schemas.microsoft.com/office/drawing/2014/main" id="{4741FE82-C1B8-93DF-B51E-27123FD7A32A}"/>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B5138-093F-EF9F-A3D3-F49AC9199DDB}"/>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557298DA-974E-2FCA-6DB1-C1D34A4E01CA}"/>
              </a:ext>
            </a:extLst>
          </p:cNvPr>
          <p:cNvSpPr txBox="1"/>
          <p:nvPr/>
        </p:nvSpPr>
        <p:spPr>
          <a:xfrm>
            <a:off x="81360" y="411359"/>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Requirement Analysis</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DE67DA0E-DB5B-8E10-F0B2-E33048ACC003}"/>
              </a:ext>
            </a:extLst>
          </p:cNvPr>
          <p:cNvSpPr txBox="1"/>
          <p:nvPr/>
        </p:nvSpPr>
        <p:spPr>
          <a:xfrm>
            <a:off x="457200" y="1142640"/>
            <a:ext cx="8723520" cy="1665669"/>
          </a:xfrm>
          <a:prstGeom prst="rect">
            <a:avLst/>
          </a:prstGeom>
          <a:noFill/>
          <a:ln w="0">
            <a:noFill/>
          </a:ln>
        </p:spPr>
        <p:txBody>
          <a:bodyPr wrap="square" lIns="90000" tIns="45000" rIns="90000" bIns="45000" anchor="t">
            <a:spAutoFit/>
          </a:bodyPr>
          <a:lstStyle/>
          <a:p>
            <a:pPr marL="342900" indent="-342900" algn="just">
              <a:spcBef>
                <a:spcPts val="1191"/>
              </a:spcBef>
              <a:spcAft>
                <a:spcPts val="992"/>
              </a:spcAft>
              <a:buClr>
                <a:srgbClr val="000000"/>
              </a:buClr>
              <a:buSzPct val="45000"/>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shall allow administrators to monitor bookings, user activity, and service performance.</a:t>
            </a:r>
          </a:p>
          <a:p>
            <a:pPr marL="342900" indent="-342900" algn="just">
              <a:spcBef>
                <a:spcPts val="1191"/>
              </a:spcBef>
              <a:spcAft>
                <a:spcPts val="992"/>
              </a:spcAft>
              <a:buClr>
                <a:srgbClr val="000000"/>
              </a:buClr>
              <a:buSzPct val="45000"/>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Users shall be able to give ratings and feedback for activities to improve service quality.</a:t>
            </a:r>
          </a:p>
        </p:txBody>
      </p:sp>
      <p:sp>
        <p:nvSpPr>
          <p:cNvPr id="2" name="PlaceHolder 1">
            <a:extLst>
              <a:ext uri="{FF2B5EF4-FFF2-40B4-BE49-F238E27FC236}">
                <a16:creationId xmlns:a16="http://schemas.microsoft.com/office/drawing/2014/main" id="{47D67B67-DF57-0245-32BC-BC8CF3E761CA}"/>
              </a:ext>
            </a:extLst>
          </p:cNvPr>
          <p:cNvSpPr>
            <a:spLocks noGrp="1"/>
          </p:cNvSpPr>
          <p:nvPr>
            <p:ph type="sldNum" idx="3"/>
          </p:nvPr>
        </p:nvSpPr>
        <p:spPr/>
        <p:txBody>
          <a:bodyPr/>
          <a:lstStyle/>
          <a:p>
            <a:r>
              <a:rPr lang="en-US" dirty="0"/>
              <a:t>8</a:t>
            </a:r>
            <a:endParaRPr dirty="0"/>
          </a:p>
        </p:txBody>
      </p:sp>
      <p:cxnSp>
        <p:nvCxnSpPr>
          <p:cNvPr id="3" name="Straight Connector 2">
            <a:extLst>
              <a:ext uri="{FF2B5EF4-FFF2-40B4-BE49-F238E27FC236}">
                <a16:creationId xmlns:a16="http://schemas.microsoft.com/office/drawing/2014/main" id="{23B14728-7920-41E4-7739-FE0D8B760144}"/>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8907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457200" y="1142640"/>
            <a:ext cx="8723520" cy="4127881"/>
          </a:xfrm>
          <a:prstGeom prst="rect">
            <a:avLst/>
          </a:prstGeom>
          <a:noFill/>
          <a:ln w="0">
            <a:noFill/>
          </a:ln>
        </p:spPr>
        <p:txBody>
          <a:bodyPr lIns="90000" tIns="45000" rIns="90000" bIns="45000" anchor="t">
            <a:spAutoFit/>
          </a:bodyPr>
          <a:lstStyle/>
          <a:p>
            <a:pPr algn="just">
              <a:spcBef>
                <a:spcPts val="1191"/>
              </a:spcBef>
              <a:spcAft>
                <a:spcPts val="992"/>
              </a:spcAft>
              <a:buClr>
                <a:srgbClr val="000000"/>
              </a:buClr>
              <a:buSzPct val="45000"/>
            </a:pPr>
            <a:r>
              <a:rPr lang="en-US" sz="2100" b="1" u="none" strike="noStrike" dirty="0">
                <a:solidFill>
                  <a:srgbClr val="000000"/>
                </a:solidFill>
                <a:effectLst/>
                <a:uFillTx/>
                <a:latin typeface="Times New Roman" panose="02020603050405020304" pitchFamily="18" charset="0"/>
                <a:cs typeface="Times New Roman" panose="02020603050405020304" pitchFamily="18" charset="0"/>
              </a:rPr>
              <a:t>Non-Functional Requirements</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must be scalable to handle multiple users booking activities simultaneously without performance degradation.</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must ensure secure authentication and data protection for both users and service providers.</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must provide fast response times, ensure smooth and reliable navigation and bookings.</a:t>
            </a:r>
          </a:p>
          <a:p>
            <a:pPr marL="216000" indent="-216000" algn="just">
              <a:spcBef>
                <a:spcPts val="1191"/>
              </a:spcBef>
              <a:spcAft>
                <a:spcPts val="992"/>
              </a:spcAft>
              <a:buClr>
                <a:srgbClr val="000000"/>
              </a:buClr>
              <a:buSzPct val="45000"/>
              <a:buFont typeface="Wingdings" charset="2"/>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must include backup and recovery mechanisms to retain user data, bookings, and provider information in case of failures.</a:t>
            </a:r>
          </a:p>
        </p:txBody>
      </p:sp>
      <p:sp>
        <p:nvSpPr>
          <p:cNvPr id="2" name="PlaceHolder 1"/>
          <p:cNvSpPr>
            <a:spLocks noGrp="1"/>
          </p:cNvSpPr>
          <p:nvPr>
            <p:ph type="sldNum" idx="3"/>
          </p:nvPr>
        </p:nvSpPr>
        <p:spPr/>
        <p:txBody>
          <a:bodyPr/>
          <a:lstStyle/>
          <a:p>
            <a:r>
              <a:rPr lang="en-US" dirty="0"/>
              <a:t>9</a:t>
            </a:r>
            <a:endParaRPr dirty="0"/>
          </a:p>
        </p:txBody>
      </p:sp>
      <p:cxnSp>
        <p:nvCxnSpPr>
          <p:cNvPr id="3" name="Straight Connector 2">
            <a:extLst>
              <a:ext uri="{FF2B5EF4-FFF2-40B4-BE49-F238E27FC236}">
                <a16:creationId xmlns:a16="http://schemas.microsoft.com/office/drawing/2014/main" id="{0D93B949-BEB9-0292-B61B-E419E2AE5631}"/>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3479F41-0E0B-216A-7CBA-7B51C3F65508}"/>
              </a:ext>
            </a:extLst>
          </p:cNvPr>
          <p:cNvSpPr txBox="1"/>
          <p:nvPr/>
        </p:nvSpPr>
        <p:spPr>
          <a:xfrm>
            <a:off x="74160" y="411359"/>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Requirement Analysis</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p:cNvSpPr txBox="1"/>
          <p:nvPr/>
        </p:nvSpPr>
        <p:spPr>
          <a:xfrm>
            <a:off x="457200" y="1142640"/>
            <a:ext cx="8723520" cy="3199422"/>
          </a:xfrm>
          <a:prstGeom prst="rect">
            <a:avLst/>
          </a:prstGeom>
          <a:noFill/>
          <a:ln w="0">
            <a:noFill/>
          </a:ln>
        </p:spPr>
        <p:txBody>
          <a:bodyPr lIns="90000" tIns="45000" rIns="90000" bIns="45000" anchor="t">
            <a:spAutoFit/>
          </a:bodyPr>
          <a:lstStyle/>
          <a:p>
            <a:pPr marL="216000" indent="-216000" algn="just">
              <a:spcBef>
                <a:spcPts val="1191"/>
              </a:spcBef>
              <a:spcAft>
                <a:spcPts val="992"/>
              </a:spcAft>
              <a:buClr>
                <a:srgbClr val="000000"/>
              </a:buClr>
              <a:buFont typeface="OpenSymbol"/>
              <a:buAutoNum type="arabicPeriod"/>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 Technical Feasible</a:t>
            </a:r>
          </a:p>
          <a:p>
            <a:pPr marL="501750" lvl="1" indent="-285750" algn="just">
              <a:spcBef>
                <a:spcPts val="1191"/>
              </a:spcBef>
              <a:spcAft>
                <a:spcPts val="992"/>
              </a:spcAft>
              <a:buClr>
                <a:srgbClr val="000000"/>
              </a:buClr>
              <a:buFont typeface="Arial" panose="020B0604020202020204" pitchFamily="34" charset="0"/>
              <a:buChar char="•"/>
            </a:pPr>
            <a:r>
              <a:rPr lang="en-US" sz="2100" dirty="0">
                <a:solidFill>
                  <a:srgbClr val="000000"/>
                </a:solidFill>
                <a:latin typeface="Times New Roman" panose="02020603050405020304" pitchFamily="18" charset="0"/>
                <a:cs typeface="Times New Roman" panose="02020603050405020304" pitchFamily="18" charset="0"/>
              </a:rPr>
              <a:t>It can run on any platform that can run a browser</a:t>
            </a:r>
          </a:p>
          <a:p>
            <a:pPr marL="501750" lvl="1" indent="-285750" algn="just">
              <a:spcBef>
                <a:spcPts val="1191"/>
              </a:spcBef>
              <a:spcAft>
                <a:spcPts val="992"/>
              </a:spcAft>
              <a:buClr>
                <a:srgbClr val="000000"/>
              </a:buClr>
              <a:buFont typeface="Arial" panose="020B0604020202020204" pitchFamily="34" charset="0"/>
              <a:buChar char="•"/>
            </a:pPr>
            <a:r>
              <a:rPr lang="en-US" sz="2100" dirty="0">
                <a:solidFill>
                  <a:srgbClr val="000000"/>
                </a:solidFill>
                <a:latin typeface="Times New Roman" panose="02020603050405020304" pitchFamily="18" charset="0"/>
                <a:cs typeface="Times New Roman" panose="02020603050405020304" pitchFamily="18" charset="0"/>
              </a:rPr>
              <a:t>The platform is built using open-source technologies like HTML, CSS, JavaScript, PHP, and MySQL, which are widely supported and updated regularly</a:t>
            </a:r>
          </a:p>
          <a:p>
            <a:pPr marL="501750" lvl="1" indent="-285750" algn="just">
              <a:spcBef>
                <a:spcPts val="1191"/>
              </a:spcBef>
              <a:spcAft>
                <a:spcPts val="992"/>
              </a:spcAft>
              <a:buClr>
                <a:srgbClr val="000000"/>
              </a:buClr>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three tier architecture design is scalable and secure, allowing future feature additions and proper data protection.</a:t>
            </a:r>
          </a:p>
        </p:txBody>
      </p:sp>
      <p:sp>
        <p:nvSpPr>
          <p:cNvPr id="2" name="PlaceHolder 1"/>
          <p:cNvSpPr>
            <a:spLocks noGrp="1"/>
          </p:cNvSpPr>
          <p:nvPr>
            <p:ph type="sldNum" idx="3"/>
          </p:nvPr>
        </p:nvSpPr>
        <p:spPr/>
        <p:txBody>
          <a:bodyPr/>
          <a:lstStyle/>
          <a:p>
            <a:r>
              <a:rPr lang="en-US" dirty="0"/>
              <a:t>10</a:t>
            </a:r>
            <a:endParaRPr dirty="0"/>
          </a:p>
        </p:txBody>
      </p:sp>
      <p:cxnSp>
        <p:nvCxnSpPr>
          <p:cNvPr id="3" name="Straight Connector 2">
            <a:extLst>
              <a:ext uri="{FF2B5EF4-FFF2-40B4-BE49-F238E27FC236}">
                <a16:creationId xmlns:a16="http://schemas.microsoft.com/office/drawing/2014/main" id="{4A686BCA-529A-0839-6289-150573A36A18}"/>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DC98198-6AA9-B31E-A0DF-076C501A448E}"/>
              </a:ext>
            </a:extLst>
          </p:cNvPr>
          <p:cNvSpPr txBox="1"/>
          <p:nvPr/>
        </p:nvSpPr>
        <p:spPr>
          <a:xfrm>
            <a:off x="-356400" y="363296"/>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Feasibility Study</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C7A07F1-CB61-375E-4BBB-98D05456510E}"/>
              </a:ext>
            </a:extLst>
          </p:cNvPr>
          <p:cNvSpPr>
            <a:spLocks noGrp="1"/>
          </p:cNvSpPr>
          <p:nvPr>
            <p:ph type="subTitle"/>
          </p:nvPr>
        </p:nvSpPr>
        <p:spPr>
          <a:xfrm>
            <a:off x="478980" y="1316340"/>
            <a:ext cx="9071640" cy="2847959"/>
          </a:xfrm>
        </p:spPr>
        <p:txBody>
          <a:bodyPr/>
          <a:lstStyle/>
          <a:p>
            <a:pPr marL="0" indent="0" algn="just">
              <a:spcBef>
                <a:spcPts val="1191"/>
              </a:spcBef>
              <a:spcAft>
                <a:spcPts val="992"/>
              </a:spcAft>
              <a:buClr>
                <a:srgbClr val="000000"/>
              </a:buClr>
              <a:buNone/>
            </a:pPr>
            <a:r>
              <a:rPr lang="en-US" sz="2100" dirty="0">
                <a:solidFill>
                  <a:srgbClr val="000000"/>
                </a:solidFill>
                <a:latin typeface="Times New Roman" panose="02020603050405020304" pitchFamily="18" charset="0"/>
                <a:cs typeface="Times New Roman" panose="02020603050405020304" pitchFamily="18" charset="0"/>
              </a:rPr>
              <a:t>2. Economic Feasible</a:t>
            </a:r>
          </a:p>
          <a:p>
            <a:pPr marL="558900" lvl="1" indent="-342900" algn="just">
              <a:spcBef>
                <a:spcPts val="1191"/>
              </a:spcBef>
              <a:spcAft>
                <a:spcPts val="992"/>
              </a:spcAft>
              <a:buClr>
                <a:srgbClr val="000000"/>
              </a:buClr>
              <a:buFont typeface="Arial" panose="020B0604020202020204" pitchFamily="34" charset="0"/>
              <a:buChar char="•"/>
            </a:pPr>
            <a:r>
              <a:rPr lang="en-US" sz="2100" dirty="0">
                <a:solidFill>
                  <a:srgbClr val="000000"/>
                </a:solidFill>
                <a:latin typeface="Times New Roman" panose="02020603050405020304" pitchFamily="18" charset="0"/>
                <a:cs typeface="Times New Roman" panose="02020603050405020304" pitchFamily="18" charset="0"/>
              </a:rPr>
              <a:t>Development costs are low due to the use of free and open-source tools.</a:t>
            </a:r>
          </a:p>
          <a:p>
            <a:pPr marL="558900" lvl="1" indent="-342900" algn="just">
              <a:spcBef>
                <a:spcPts val="1191"/>
              </a:spcBef>
              <a:spcAft>
                <a:spcPts val="992"/>
              </a:spcAft>
              <a:buClr>
                <a:srgbClr val="000000"/>
              </a:buClr>
              <a:buFont typeface="Arial" panose="020B0604020202020204" pitchFamily="34" charset="0"/>
              <a:buChar char="•"/>
            </a:pPr>
            <a:r>
              <a:rPr lang="en-US" sz="2100" dirty="0">
                <a:solidFill>
                  <a:srgbClr val="000000"/>
                </a:solidFill>
                <a:latin typeface="Times New Roman" panose="02020603050405020304" pitchFamily="18" charset="0"/>
                <a:cs typeface="Times New Roman" panose="02020603050405020304" pitchFamily="18" charset="0"/>
              </a:rPr>
              <a:t>Minimal hardware and hosting requirements reduce overall expenditure.</a:t>
            </a:r>
          </a:p>
          <a:p>
            <a:pPr marL="558900" lvl="1" indent="-342900" algn="just">
              <a:spcBef>
                <a:spcPts val="1191"/>
              </a:spcBef>
              <a:spcAft>
                <a:spcPts val="992"/>
              </a:spcAft>
              <a:buClr>
                <a:srgbClr val="000000"/>
              </a:buClr>
              <a:buFont typeface="Arial" panose="020B0604020202020204" pitchFamily="34" charset="0"/>
              <a:buChar char="•"/>
            </a:pPr>
            <a:r>
              <a:rPr lang="en-US" sz="2100" dirty="0">
                <a:solidFill>
                  <a:srgbClr val="000000"/>
                </a:solidFill>
                <a:latin typeface="Times New Roman" panose="02020603050405020304" pitchFamily="18" charset="0"/>
                <a:cs typeface="Times New Roman" panose="02020603050405020304" pitchFamily="18" charset="0"/>
              </a:rPr>
              <a:t>The platform supports business growth and contributes to tourism and economic development.</a:t>
            </a:r>
          </a:p>
          <a:p>
            <a:pPr marL="0" indent="0">
              <a:buNone/>
            </a:pPr>
            <a:endParaRPr lang="en-US" sz="2100" dirty="0"/>
          </a:p>
        </p:txBody>
      </p:sp>
      <p:cxnSp>
        <p:nvCxnSpPr>
          <p:cNvPr id="5" name="Straight Connector 4">
            <a:extLst>
              <a:ext uri="{FF2B5EF4-FFF2-40B4-BE49-F238E27FC236}">
                <a16:creationId xmlns:a16="http://schemas.microsoft.com/office/drawing/2014/main" id="{45E1E4D0-B1D2-EFD3-49DE-EF0161095AD2}"/>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E77974D-96FE-46B7-35F0-18785E6B5340}"/>
              </a:ext>
            </a:extLst>
          </p:cNvPr>
          <p:cNvSpPr txBox="1"/>
          <p:nvPr/>
        </p:nvSpPr>
        <p:spPr>
          <a:xfrm>
            <a:off x="-356400" y="363296"/>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Feasibility Study</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1" name="PlaceHolder 1">
            <a:extLst>
              <a:ext uri="{FF2B5EF4-FFF2-40B4-BE49-F238E27FC236}">
                <a16:creationId xmlns:a16="http://schemas.microsoft.com/office/drawing/2014/main" id="{3F923275-ADDF-F167-23E8-1C2B761DE58B}"/>
              </a:ext>
            </a:extLst>
          </p:cNvPr>
          <p:cNvSpPr>
            <a:spLocks noGrp="1"/>
          </p:cNvSpPr>
          <p:nvPr>
            <p:ph type="sldNum" idx="3"/>
          </p:nvPr>
        </p:nvSpPr>
        <p:spPr>
          <a:xfrm>
            <a:off x="7227360" y="5165280"/>
            <a:ext cx="2348280" cy="390600"/>
          </a:xfrm>
        </p:spPr>
        <p:txBody>
          <a:bodyPr/>
          <a:lstStyle/>
          <a:p>
            <a:r>
              <a:rPr lang="en-US" dirty="0"/>
              <a:t>11</a:t>
            </a:r>
            <a:endParaRPr dirty="0"/>
          </a:p>
        </p:txBody>
      </p:sp>
    </p:spTree>
    <p:extLst>
      <p:ext uri="{BB962C8B-B14F-4D97-AF65-F5344CB8AC3E}">
        <p14:creationId xmlns:p14="http://schemas.microsoft.com/office/powerpoint/2010/main" val="3203007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p:cNvSpPr txBox="1"/>
          <p:nvPr/>
        </p:nvSpPr>
        <p:spPr>
          <a:xfrm>
            <a:off x="457200" y="1142640"/>
            <a:ext cx="8723520" cy="2876257"/>
          </a:xfrm>
          <a:prstGeom prst="rect">
            <a:avLst/>
          </a:prstGeom>
          <a:noFill/>
          <a:ln w="0">
            <a:noFill/>
          </a:ln>
        </p:spPr>
        <p:txBody>
          <a:bodyPr lIns="90000" tIns="45000" rIns="90000" bIns="45000" anchor="t">
            <a:spAutoFit/>
          </a:bodyPr>
          <a:lstStyle/>
          <a:p>
            <a:pPr algn="just">
              <a:spcBef>
                <a:spcPts val="1191"/>
              </a:spcBef>
              <a:spcAft>
                <a:spcPts val="992"/>
              </a:spcAft>
              <a:buClr>
                <a:srgbClr val="000000"/>
              </a:buCl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3. Operational Feasible</a:t>
            </a:r>
          </a:p>
          <a:p>
            <a:pPr marL="501750" lvl="1" indent="-285750" algn="just">
              <a:spcBef>
                <a:spcPts val="1191"/>
              </a:spcBef>
              <a:spcAft>
                <a:spcPts val="992"/>
              </a:spcAft>
              <a:buClr>
                <a:srgbClr val="000000"/>
              </a:buClr>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system is web-based and easy to operate for both users and organization.</a:t>
            </a:r>
          </a:p>
          <a:p>
            <a:pPr marL="501750" lvl="1" indent="-285750" algn="just">
              <a:spcBef>
                <a:spcPts val="1191"/>
              </a:spcBef>
              <a:spcAft>
                <a:spcPts val="992"/>
              </a:spcAft>
              <a:buClr>
                <a:srgbClr val="000000"/>
              </a:buClr>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Organize can manage listings, schedules, and bookings efficiently.</a:t>
            </a:r>
          </a:p>
          <a:p>
            <a:pPr marL="501750" lvl="1" indent="-285750" algn="just">
              <a:spcBef>
                <a:spcPts val="1191"/>
              </a:spcBef>
              <a:spcAft>
                <a:spcPts val="992"/>
              </a:spcAft>
              <a:buClr>
                <a:srgbClr val="000000"/>
              </a:buClr>
              <a:buFont typeface="Arial" panose="020B0604020202020204" pitchFamily="34" charset="0"/>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Automated notifications, confirmations, and feedback mechanisms enhance usability and efficiency.</a:t>
            </a:r>
          </a:p>
        </p:txBody>
      </p:sp>
      <p:sp>
        <p:nvSpPr>
          <p:cNvPr id="2" name="PlaceHolder 1"/>
          <p:cNvSpPr>
            <a:spLocks noGrp="1"/>
          </p:cNvSpPr>
          <p:nvPr>
            <p:ph type="sldNum" idx="3"/>
          </p:nvPr>
        </p:nvSpPr>
        <p:spPr/>
        <p:txBody>
          <a:bodyPr/>
          <a:lstStyle/>
          <a:p>
            <a:r>
              <a:rPr lang="en-US" dirty="0"/>
              <a:t>12</a:t>
            </a:r>
            <a:endParaRPr dirty="0"/>
          </a:p>
        </p:txBody>
      </p:sp>
      <p:cxnSp>
        <p:nvCxnSpPr>
          <p:cNvPr id="3" name="Straight Connector 2">
            <a:extLst>
              <a:ext uri="{FF2B5EF4-FFF2-40B4-BE49-F238E27FC236}">
                <a16:creationId xmlns:a16="http://schemas.microsoft.com/office/drawing/2014/main" id="{285E5327-D2F6-A1D2-F78C-4DA28F85DA09}"/>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EE8D11C-EA50-30C8-E772-E16606138289}"/>
              </a:ext>
            </a:extLst>
          </p:cNvPr>
          <p:cNvSpPr txBox="1"/>
          <p:nvPr/>
        </p:nvSpPr>
        <p:spPr>
          <a:xfrm>
            <a:off x="-356400" y="363296"/>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Feasibility Study</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096E5-5C53-4F5A-E23A-96DC63A69570}"/>
            </a:ext>
          </a:extLst>
        </p:cNvPr>
        <p:cNvGrpSpPr/>
        <p:nvPr/>
      </p:nvGrpSpPr>
      <p:grpSpPr>
        <a:xfrm>
          <a:off x="0" y="0"/>
          <a:ext cx="0" cy="0"/>
          <a:chOff x="0" y="0"/>
          <a:chExt cx="0" cy="0"/>
        </a:xfrm>
      </p:grpSpPr>
      <p:sp>
        <p:nvSpPr>
          <p:cNvPr id="57" name="TextBox 56">
            <a:extLst>
              <a:ext uri="{FF2B5EF4-FFF2-40B4-BE49-F238E27FC236}">
                <a16:creationId xmlns:a16="http://schemas.microsoft.com/office/drawing/2014/main" id="{986AE652-1AE4-E46A-B8DA-6BC78B01BF9B}"/>
              </a:ext>
            </a:extLst>
          </p:cNvPr>
          <p:cNvSpPr txBox="1"/>
          <p:nvPr/>
        </p:nvSpPr>
        <p:spPr>
          <a:xfrm>
            <a:off x="457200" y="1142640"/>
            <a:ext cx="8723520" cy="2363296"/>
          </a:xfrm>
          <a:prstGeom prst="rect">
            <a:avLst/>
          </a:prstGeom>
          <a:noFill/>
          <a:ln w="0">
            <a:noFill/>
          </a:ln>
        </p:spPr>
        <p:txBody>
          <a:bodyPr lIns="90000" tIns="45000" rIns="90000" bIns="45000" anchor="t">
            <a:spAutoFit/>
          </a:bodyPr>
          <a:lstStyle/>
          <a:p>
            <a:pPr algn="just">
              <a:spcBef>
                <a:spcPts val="1191"/>
              </a:spcBef>
              <a:spcAft>
                <a:spcPts val="992"/>
              </a:spcAft>
              <a:buClr>
                <a:srgbClr val="000000"/>
              </a:buClr>
            </a:pPr>
            <a:r>
              <a:rPr lang="en-US" sz="2100" dirty="0">
                <a:solidFill>
                  <a:srgbClr val="000000"/>
                </a:solidFill>
                <a:latin typeface="Times New Roman" panose="02020603050405020304" pitchFamily="18" charset="0"/>
                <a:cs typeface="Times New Roman" panose="02020603050405020304" pitchFamily="18" charset="0"/>
              </a:rPr>
              <a:t>4</a:t>
            </a: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 Schedule Feasible</a:t>
            </a:r>
          </a:p>
          <a:p>
            <a:pPr marL="501750" lvl="1" indent="-285750" algn="just">
              <a:spcBef>
                <a:spcPts val="1191"/>
              </a:spcBef>
              <a:spcAft>
                <a:spcPts val="992"/>
              </a:spcAft>
              <a:buClr>
                <a:srgbClr val="000000"/>
              </a:buClr>
              <a:buFont typeface="Arial" panose="020B0604020202020204" pitchFamily="34" charset="0"/>
              <a:buChar char="•"/>
            </a:pPr>
            <a:r>
              <a:rPr lang="en-US" dirty="0"/>
              <a:t>The project is schedule-feasible as the development tasks are clearly defined and can be completed within the allocated academic timeline. </a:t>
            </a:r>
          </a:p>
          <a:p>
            <a:pPr marL="501750" lvl="1" indent="-285750" algn="just">
              <a:spcBef>
                <a:spcPts val="1191"/>
              </a:spcBef>
              <a:spcAft>
                <a:spcPts val="992"/>
              </a:spcAft>
              <a:buClr>
                <a:srgbClr val="000000"/>
              </a:buClr>
              <a:buFont typeface="Arial" panose="020B0604020202020204" pitchFamily="34" charset="0"/>
              <a:buChar char="•"/>
            </a:pPr>
            <a:r>
              <a:rPr lang="en-US" dirty="0"/>
              <a:t>A waterfall development approach allows us progress in design, implementation, and testing as we know all the requirement of the system  and do not need to fallback to previous module</a:t>
            </a:r>
            <a:endParaRPr lang="en-US" sz="2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 name="PlaceHolder 1">
            <a:extLst>
              <a:ext uri="{FF2B5EF4-FFF2-40B4-BE49-F238E27FC236}">
                <a16:creationId xmlns:a16="http://schemas.microsoft.com/office/drawing/2014/main" id="{53EA087E-9043-D9AF-674D-760FF82B76B9}"/>
              </a:ext>
            </a:extLst>
          </p:cNvPr>
          <p:cNvSpPr>
            <a:spLocks noGrp="1"/>
          </p:cNvSpPr>
          <p:nvPr>
            <p:ph type="sldNum" idx="3"/>
          </p:nvPr>
        </p:nvSpPr>
        <p:spPr/>
        <p:txBody>
          <a:bodyPr/>
          <a:lstStyle/>
          <a:p>
            <a:r>
              <a:rPr lang="en-US" dirty="0"/>
              <a:t>13</a:t>
            </a:r>
            <a:endParaRPr dirty="0"/>
          </a:p>
        </p:txBody>
      </p:sp>
      <p:cxnSp>
        <p:nvCxnSpPr>
          <p:cNvPr id="3" name="Straight Connector 2">
            <a:extLst>
              <a:ext uri="{FF2B5EF4-FFF2-40B4-BE49-F238E27FC236}">
                <a16:creationId xmlns:a16="http://schemas.microsoft.com/office/drawing/2014/main" id="{3D6DE877-82B5-501F-0B4D-A360CE6EBD8E}"/>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3B77B31-40D1-BF14-89D1-AD4E15472125}"/>
              </a:ext>
            </a:extLst>
          </p:cNvPr>
          <p:cNvSpPr txBox="1"/>
          <p:nvPr/>
        </p:nvSpPr>
        <p:spPr>
          <a:xfrm>
            <a:off x="-356400" y="363296"/>
            <a:ext cx="4543200" cy="583321"/>
          </a:xfrm>
          <a:prstGeom prst="rect">
            <a:avLst/>
          </a:prstGeom>
          <a:noFill/>
          <a:ln w="0">
            <a:noFill/>
          </a:ln>
        </p:spPr>
        <p:txBody>
          <a:bodyPr wrap="square" lIns="90000" tIns="45000" rIns="90000" bIns="45000" anchor="t" anchorCtr="1">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Feasibility Study</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7748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nvSpPr>
        <p:spPr>
          <a:xfrm>
            <a:off x="457200" y="457200"/>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Tools and Technologies</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61" name="TextBox 60"/>
          <p:cNvSpPr txBox="1"/>
          <p:nvPr/>
        </p:nvSpPr>
        <p:spPr>
          <a:xfrm>
            <a:off x="457200" y="1142640"/>
            <a:ext cx="8723520" cy="2229926"/>
          </a:xfrm>
          <a:prstGeom prst="rect">
            <a:avLst/>
          </a:prstGeom>
          <a:noFill/>
          <a:ln w="0">
            <a:noFill/>
          </a:ln>
        </p:spPr>
        <p:txBody>
          <a:bodyPr lIns="90000" tIns="45000" rIns="90000" bIns="45000" anchor="t">
            <a:spAutoFit/>
          </a:bodyPr>
          <a:lstStyle/>
          <a:p>
            <a:pPr marL="216000" indent="-216000" algn="just">
              <a:spcBef>
                <a:spcPts val="1191"/>
              </a:spcBef>
              <a:spcAft>
                <a:spcPts val="992"/>
              </a:spcAft>
              <a:buClr>
                <a:srgbClr val="000000"/>
              </a:buClr>
              <a:buFont typeface="OpenSymbol"/>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HTML, CSS, JavaScript</a:t>
            </a:r>
          </a:p>
          <a:p>
            <a:pPr marL="216000" indent="-216000" algn="just">
              <a:spcBef>
                <a:spcPts val="1191"/>
              </a:spcBef>
              <a:spcAft>
                <a:spcPts val="992"/>
              </a:spcAft>
              <a:buClr>
                <a:srgbClr val="000000"/>
              </a:buClr>
              <a:buFont typeface="OpenSymbol"/>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PHP</a:t>
            </a:r>
          </a:p>
          <a:p>
            <a:pPr marL="216000" indent="-216000" algn="just">
              <a:spcBef>
                <a:spcPts val="1191"/>
              </a:spcBef>
              <a:spcAft>
                <a:spcPts val="992"/>
              </a:spcAft>
              <a:buClr>
                <a:srgbClr val="000000"/>
              </a:buClr>
              <a:buFont typeface="OpenSymbol"/>
              <a:buChar char="-"/>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MySQL</a:t>
            </a:r>
          </a:p>
          <a:p>
            <a:pPr marL="216000" indent="-216000" algn="just">
              <a:spcBef>
                <a:spcPts val="1191"/>
              </a:spcBef>
              <a:spcAft>
                <a:spcPts val="992"/>
              </a:spcAft>
              <a:buClr>
                <a:srgbClr val="000000"/>
              </a:buClr>
              <a:buFont typeface="OpenSymbol"/>
              <a:buChar char="-"/>
            </a:pPr>
            <a:r>
              <a:rPr lang="en-US" sz="2100" dirty="0">
                <a:solidFill>
                  <a:srgbClr val="000000"/>
                </a:solidFill>
                <a:latin typeface="Times New Roman" panose="02020603050405020304" pitchFamily="18" charset="0"/>
                <a:cs typeface="Times New Roman" panose="02020603050405020304" pitchFamily="18" charset="0"/>
              </a:rPr>
              <a:t>XAMPP</a:t>
            </a:r>
            <a:endParaRPr lang="en-US" sz="21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 name="PlaceHolder 1"/>
          <p:cNvSpPr>
            <a:spLocks noGrp="1"/>
          </p:cNvSpPr>
          <p:nvPr>
            <p:ph type="sldNum" idx="3"/>
          </p:nvPr>
        </p:nvSpPr>
        <p:spPr/>
        <p:txBody>
          <a:bodyPr/>
          <a:lstStyle/>
          <a:p>
            <a:r>
              <a:rPr lang="en-US" dirty="0"/>
              <a:t>14</a:t>
            </a:r>
            <a:endParaRPr dirty="0"/>
          </a:p>
        </p:txBody>
      </p:sp>
      <p:cxnSp>
        <p:nvCxnSpPr>
          <p:cNvPr id="3" name="Straight Connector 2">
            <a:extLst>
              <a:ext uri="{FF2B5EF4-FFF2-40B4-BE49-F238E27FC236}">
                <a16:creationId xmlns:a16="http://schemas.microsoft.com/office/drawing/2014/main" id="{14BF2738-10C8-8DD6-EC33-D17C3DBA76F5}"/>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457200" y="457200"/>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System Architecture</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65" name="Picture 64"/>
          <p:cNvPicPr/>
          <p:nvPr/>
        </p:nvPicPr>
        <p:blipFill>
          <a:blip r:embed="rId2"/>
          <a:srcRect l="1137" t="1808" r="1339" b="2536"/>
          <a:stretch/>
        </p:blipFill>
        <p:spPr>
          <a:xfrm>
            <a:off x="1564560" y="1365480"/>
            <a:ext cx="6789600" cy="2741760"/>
          </a:xfrm>
          <a:prstGeom prst="rect">
            <a:avLst/>
          </a:prstGeom>
          <a:noFill/>
          <a:ln w="0">
            <a:noFill/>
          </a:ln>
        </p:spPr>
      </p:pic>
      <p:sp>
        <p:nvSpPr>
          <p:cNvPr id="66" name="TextBox 65"/>
          <p:cNvSpPr txBox="1"/>
          <p:nvPr/>
        </p:nvSpPr>
        <p:spPr>
          <a:xfrm>
            <a:off x="3180060" y="4243320"/>
            <a:ext cx="3558600" cy="367878"/>
          </a:xfrm>
          <a:prstGeom prst="rect">
            <a:avLst/>
          </a:prstGeom>
          <a:noFill/>
          <a:ln w="0">
            <a:noFill/>
          </a:ln>
        </p:spPr>
        <p:txBody>
          <a:bodyPr lIns="90000" tIns="45000" rIns="90000" bIns="45000" anchor="t">
            <a:spAutoFit/>
          </a:bodyPr>
          <a:lstStyle/>
          <a:p>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Figure 2: Three-Tier Architecture</a:t>
            </a:r>
          </a:p>
        </p:txBody>
      </p:sp>
      <p:sp>
        <p:nvSpPr>
          <p:cNvPr id="2" name="PlaceHolder 1"/>
          <p:cNvSpPr>
            <a:spLocks noGrp="1"/>
          </p:cNvSpPr>
          <p:nvPr>
            <p:ph type="sldNum" idx="3"/>
          </p:nvPr>
        </p:nvSpPr>
        <p:spPr/>
        <p:txBody>
          <a:bodyPr/>
          <a:lstStyle/>
          <a:p>
            <a:r>
              <a:rPr lang="en-US" dirty="0"/>
              <a:t>15</a:t>
            </a:r>
            <a:endParaRPr dirty="0"/>
          </a:p>
        </p:txBody>
      </p:sp>
      <p:cxnSp>
        <p:nvCxnSpPr>
          <p:cNvPr id="3" name="Straight Connector 2">
            <a:extLst>
              <a:ext uri="{FF2B5EF4-FFF2-40B4-BE49-F238E27FC236}">
                <a16:creationId xmlns:a16="http://schemas.microsoft.com/office/drawing/2014/main" id="{4DE2E038-1D48-C2F4-5428-DAF2C441BCAF}"/>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7"/>
          <p:cNvSpPr txBox="1"/>
          <p:nvPr/>
        </p:nvSpPr>
        <p:spPr>
          <a:xfrm>
            <a:off x="457200" y="457200"/>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Context Diagram</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70" name="TextBox 69"/>
          <p:cNvSpPr txBox="1"/>
          <p:nvPr/>
        </p:nvSpPr>
        <p:spPr>
          <a:xfrm>
            <a:off x="2428560" y="4236840"/>
            <a:ext cx="5143680" cy="321711"/>
          </a:xfrm>
          <a:prstGeom prst="rect">
            <a:avLst/>
          </a:prstGeom>
          <a:noFill/>
          <a:ln w="0">
            <a:noFill/>
          </a:ln>
        </p:spPr>
        <p:txBody>
          <a:bodyPr lIns="90000" tIns="45000" rIns="90000" bIns="45000" anchor="t">
            <a:spAutoFit/>
          </a:bodyPr>
          <a:lstStyle/>
          <a:p>
            <a:r>
              <a:rPr lang="en-US" sz="1500" b="0" u="none" strike="noStrike" dirty="0">
                <a:solidFill>
                  <a:srgbClr val="000000"/>
                </a:solidFill>
                <a:effectLst/>
                <a:uFillTx/>
                <a:latin typeface="Times New Roman" panose="02020603050405020304" pitchFamily="18" charset="0"/>
                <a:cs typeface="Times New Roman" panose="02020603050405020304" pitchFamily="18" charset="0"/>
              </a:rPr>
              <a:t>Figure 3: Context Diagram for Activity Booking Platform</a:t>
            </a:r>
          </a:p>
        </p:txBody>
      </p:sp>
      <p:pic>
        <p:nvPicPr>
          <p:cNvPr id="71" name="Picture 70"/>
          <p:cNvPicPr/>
          <p:nvPr/>
        </p:nvPicPr>
        <p:blipFill>
          <a:blip r:embed="rId2">
            <a:extLst>
              <a:ext uri="{28A0092B-C50C-407E-A947-70E740481C1C}">
                <a14:useLocalDpi xmlns:a14="http://schemas.microsoft.com/office/drawing/2010/main" val="0"/>
              </a:ext>
            </a:extLst>
          </a:blip>
          <a:srcRect/>
          <a:stretch/>
        </p:blipFill>
        <p:spPr>
          <a:xfrm>
            <a:off x="642960" y="2192364"/>
            <a:ext cx="8714880" cy="1534752"/>
          </a:xfrm>
          <a:prstGeom prst="rect">
            <a:avLst/>
          </a:prstGeom>
          <a:noFill/>
          <a:ln w="0">
            <a:noFill/>
          </a:ln>
        </p:spPr>
      </p:pic>
      <p:sp>
        <p:nvSpPr>
          <p:cNvPr id="2" name="PlaceHolder 1"/>
          <p:cNvSpPr>
            <a:spLocks noGrp="1"/>
          </p:cNvSpPr>
          <p:nvPr>
            <p:ph type="sldNum" idx="3"/>
          </p:nvPr>
        </p:nvSpPr>
        <p:spPr/>
        <p:txBody>
          <a:bodyPr/>
          <a:lstStyle/>
          <a:p>
            <a:r>
              <a:rPr lang="en-US" dirty="0"/>
              <a:t>16</a:t>
            </a:r>
            <a:endParaRPr dirty="0"/>
          </a:p>
        </p:txBody>
      </p:sp>
      <p:cxnSp>
        <p:nvCxnSpPr>
          <p:cNvPr id="3" name="Straight Connector 2">
            <a:extLst>
              <a:ext uri="{FF2B5EF4-FFF2-40B4-BE49-F238E27FC236}">
                <a16:creationId xmlns:a16="http://schemas.microsoft.com/office/drawing/2014/main" id="{E36730EF-BB3C-E400-6055-B9D8CA0B8835}"/>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Box 72"/>
          <p:cNvSpPr txBox="1"/>
          <p:nvPr/>
        </p:nvSpPr>
        <p:spPr>
          <a:xfrm>
            <a:off x="470880" y="253080"/>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Case Diagram</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75" name="Picture 74"/>
          <p:cNvPicPr/>
          <p:nvPr/>
        </p:nvPicPr>
        <p:blipFill>
          <a:blip r:embed="rId2"/>
          <a:stretch/>
        </p:blipFill>
        <p:spPr>
          <a:xfrm>
            <a:off x="1857240" y="1032840"/>
            <a:ext cx="6150240" cy="4092480"/>
          </a:xfrm>
          <a:prstGeom prst="rect">
            <a:avLst/>
          </a:prstGeom>
          <a:noFill/>
          <a:ln w="0">
            <a:noFill/>
          </a:ln>
        </p:spPr>
      </p:pic>
      <p:sp>
        <p:nvSpPr>
          <p:cNvPr id="76" name="TextBox 75"/>
          <p:cNvSpPr txBox="1"/>
          <p:nvPr/>
        </p:nvSpPr>
        <p:spPr>
          <a:xfrm>
            <a:off x="2920632" y="4994568"/>
            <a:ext cx="4239360" cy="275545"/>
          </a:xfrm>
          <a:prstGeom prst="rect">
            <a:avLst/>
          </a:prstGeom>
          <a:noFill/>
          <a:ln w="0">
            <a:noFill/>
          </a:ln>
        </p:spPr>
        <p:txBody>
          <a:bodyPr lIns="90000" tIns="45000" rIns="90000" bIns="45000" anchor="ctr">
            <a:spAutoFit/>
          </a:bodyPr>
          <a:lstStyle/>
          <a:p>
            <a:pPr algn="ctr"/>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4: Case Diagram for Activity Booking Platform</a:t>
            </a:r>
          </a:p>
        </p:txBody>
      </p:sp>
      <p:sp>
        <p:nvSpPr>
          <p:cNvPr id="2" name="PlaceHolder 1"/>
          <p:cNvSpPr>
            <a:spLocks noGrp="1"/>
          </p:cNvSpPr>
          <p:nvPr>
            <p:ph type="sldNum" idx="3"/>
          </p:nvPr>
        </p:nvSpPr>
        <p:spPr/>
        <p:txBody>
          <a:bodyPr/>
          <a:lstStyle/>
          <a:p>
            <a:r>
              <a:rPr lang="en-US" dirty="0"/>
              <a:t>17</a:t>
            </a:r>
            <a:endParaRPr dirty="0"/>
          </a:p>
        </p:txBody>
      </p:sp>
      <p:cxnSp>
        <p:nvCxnSpPr>
          <p:cNvPr id="3" name="Straight Connector 2">
            <a:extLst>
              <a:ext uri="{FF2B5EF4-FFF2-40B4-BE49-F238E27FC236}">
                <a16:creationId xmlns:a16="http://schemas.microsoft.com/office/drawing/2014/main" id="{1490283B-738B-EC2B-7BE8-9B3C9D0A0B1C}"/>
              </a:ext>
            </a:extLst>
          </p:cNvPr>
          <p:cNvCxnSpPr>
            <a:cxnSpLocks/>
          </p:cNvCxnSpPr>
          <p:nvPr/>
        </p:nvCxnSpPr>
        <p:spPr>
          <a:xfrm>
            <a:off x="442080" y="78192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77D5-3BDA-41AE-8B13-629900636E65}"/>
            </a:ext>
          </a:extLst>
        </p:cNvPr>
        <p:cNvGrpSpPr/>
        <p:nvPr/>
      </p:nvGrpSpPr>
      <p:grpSpPr>
        <a:xfrm>
          <a:off x="0" y="0"/>
          <a:ext cx="0" cy="0"/>
          <a:chOff x="0" y="0"/>
          <a:chExt cx="0" cy="0"/>
        </a:xfrm>
      </p:grpSpPr>
      <p:sp>
        <p:nvSpPr>
          <p:cNvPr id="78" name="TextBox 77">
            <a:extLst>
              <a:ext uri="{FF2B5EF4-FFF2-40B4-BE49-F238E27FC236}">
                <a16:creationId xmlns:a16="http://schemas.microsoft.com/office/drawing/2014/main" id="{7EF2D60E-0CBF-A777-E335-08D336210752}"/>
              </a:ext>
            </a:extLst>
          </p:cNvPr>
          <p:cNvSpPr txBox="1"/>
          <p:nvPr/>
        </p:nvSpPr>
        <p:spPr>
          <a:xfrm>
            <a:off x="240840" y="65759"/>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System Flow Chart</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80" name="Picture 79">
            <a:extLst>
              <a:ext uri="{FF2B5EF4-FFF2-40B4-BE49-F238E27FC236}">
                <a16:creationId xmlns:a16="http://schemas.microsoft.com/office/drawing/2014/main" id="{9087AEF3-F303-6E9D-282D-90704B10443C}"/>
              </a:ext>
            </a:extLst>
          </p:cNvPr>
          <p:cNvPicPr/>
          <p:nvPr/>
        </p:nvPicPr>
        <p:blipFill>
          <a:blip r:embed="rId2">
            <a:extLst>
              <a:ext uri="{28A0092B-C50C-407E-A947-70E740481C1C}">
                <a14:useLocalDpi xmlns:a14="http://schemas.microsoft.com/office/drawing/2010/main" val="0"/>
              </a:ext>
            </a:extLst>
          </a:blip>
          <a:srcRect b="41814"/>
          <a:stretch>
            <a:fillRect/>
          </a:stretch>
        </p:blipFill>
        <p:spPr>
          <a:xfrm>
            <a:off x="1801800" y="865072"/>
            <a:ext cx="5425560" cy="4258269"/>
          </a:xfrm>
          <a:prstGeom prst="rect">
            <a:avLst/>
          </a:prstGeom>
          <a:noFill/>
          <a:ln w="0">
            <a:noFill/>
          </a:ln>
        </p:spPr>
      </p:pic>
      <p:sp>
        <p:nvSpPr>
          <p:cNvPr id="81" name="TextBox 80">
            <a:extLst>
              <a:ext uri="{FF2B5EF4-FFF2-40B4-BE49-F238E27FC236}">
                <a16:creationId xmlns:a16="http://schemas.microsoft.com/office/drawing/2014/main" id="{BE000122-22A8-5455-183E-C37D1FAED2E3}"/>
              </a:ext>
            </a:extLst>
          </p:cNvPr>
          <p:cNvSpPr txBox="1"/>
          <p:nvPr/>
        </p:nvSpPr>
        <p:spPr>
          <a:xfrm>
            <a:off x="2601360" y="5130540"/>
            <a:ext cx="4422960" cy="274680"/>
          </a:xfrm>
          <a:prstGeom prst="rect">
            <a:avLst/>
          </a:prstGeom>
          <a:noFill/>
          <a:ln w="0">
            <a:noFill/>
          </a:ln>
        </p:spPr>
        <p:txBody>
          <a:bodyPr lIns="90000" tIns="45000" rIns="90000" bIns="45000" anchor="t">
            <a:spAutoFit/>
          </a:bodyPr>
          <a:lstStyle/>
          <a:p>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5: System Flow Chart for Activity Booking Platform</a:t>
            </a:r>
          </a:p>
        </p:txBody>
      </p:sp>
      <p:sp>
        <p:nvSpPr>
          <p:cNvPr id="2" name="PlaceHolder 1">
            <a:extLst>
              <a:ext uri="{FF2B5EF4-FFF2-40B4-BE49-F238E27FC236}">
                <a16:creationId xmlns:a16="http://schemas.microsoft.com/office/drawing/2014/main" id="{CEC557F1-C36B-1532-D232-5CE45EDAB14B}"/>
              </a:ext>
            </a:extLst>
          </p:cNvPr>
          <p:cNvSpPr>
            <a:spLocks noGrp="1"/>
          </p:cNvSpPr>
          <p:nvPr>
            <p:ph type="sldNum" idx="3"/>
          </p:nvPr>
        </p:nvSpPr>
        <p:spPr/>
        <p:txBody>
          <a:bodyPr/>
          <a:lstStyle/>
          <a:p>
            <a:r>
              <a:rPr lang="en-US" dirty="0"/>
              <a:t>18</a:t>
            </a:r>
            <a:endParaRPr dirty="0"/>
          </a:p>
        </p:txBody>
      </p:sp>
      <p:cxnSp>
        <p:nvCxnSpPr>
          <p:cNvPr id="4" name="Straight Connector 3">
            <a:extLst>
              <a:ext uri="{FF2B5EF4-FFF2-40B4-BE49-F238E27FC236}">
                <a16:creationId xmlns:a16="http://schemas.microsoft.com/office/drawing/2014/main" id="{C1BF74AD-888C-E6DF-D9BD-E6A8C3F1EB9E}"/>
              </a:ext>
            </a:extLst>
          </p:cNvPr>
          <p:cNvCxnSpPr>
            <a:cxnSpLocks/>
          </p:cNvCxnSpPr>
          <p:nvPr/>
        </p:nvCxnSpPr>
        <p:spPr>
          <a:xfrm>
            <a:off x="342000" y="64188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3335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8D799-1F51-5B05-BEA2-D7ADA888F4D0}"/>
            </a:ext>
          </a:extLst>
        </p:cNvPr>
        <p:cNvGrpSpPr/>
        <p:nvPr/>
      </p:nvGrpSpPr>
      <p:grpSpPr>
        <a:xfrm>
          <a:off x="0" y="0"/>
          <a:ext cx="0" cy="0"/>
          <a:chOff x="0" y="0"/>
          <a:chExt cx="0" cy="0"/>
        </a:xfrm>
      </p:grpSpPr>
      <p:sp>
        <p:nvSpPr>
          <p:cNvPr id="78" name="TextBox 77">
            <a:extLst>
              <a:ext uri="{FF2B5EF4-FFF2-40B4-BE49-F238E27FC236}">
                <a16:creationId xmlns:a16="http://schemas.microsoft.com/office/drawing/2014/main" id="{E51CF20C-1D85-5103-8597-8D8B79EAD6D4}"/>
              </a:ext>
            </a:extLst>
          </p:cNvPr>
          <p:cNvSpPr txBox="1"/>
          <p:nvPr/>
        </p:nvSpPr>
        <p:spPr>
          <a:xfrm>
            <a:off x="240840" y="65759"/>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System Flow Chart</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6AB8AC85-6B7A-C9FC-7F8D-2FDF9593221C}"/>
              </a:ext>
            </a:extLst>
          </p:cNvPr>
          <p:cNvSpPr txBox="1"/>
          <p:nvPr/>
        </p:nvSpPr>
        <p:spPr>
          <a:xfrm>
            <a:off x="2921400" y="5085900"/>
            <a:ext cx="4422960" cy="274680"/>
          </a:xfrm>
          <a:prstGeom prst="rect">
            <a:avLst/>
          </a:prstGeom>
          <a:noFill/>
          <a:ln w="0">
            <a:noFill/>
          </a:ln>
        </p:spPr>
        <p:txBody>
          <a:bodyPr lIns="90000" tIns="45000" rIns="90000" bIns="45000" anchor="t">
            <a:spAutoFit/>
          </a:bodyPr>
          <a:lstStyle/>
          <a:p>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5: System Flow Chart for Activity Booking Platform</a:t>
            </a:r>
          </a:p>
        </p:txBody>
      </p:sp>
      <p:sp>
        <p:nvSpPr>
          <p:cNvPr id="2" name="PlaceHolder 1">
            <a:extLst>
              <a:ext uri="{FF2B5EF4-FFF2-40B4-BE49-F238E27FC236}">
                <a16:creationId xmlns:a16="http://schemas.microsoft.com/office/drawing/2014/main" id="{1CFE9C0A-5B9B-21B7-FE85-E91B5604E028}"/>
              </a:ext>
            </a:extLst>
          </p:cNvPr>
          <p:cNvSpPr>
            <a:spLocks noGrp="1"/>
          </p:cNvSpPr>
          <p:nvPr>
            <p:ph type="sldNum" idx="3"/>
          </p:nvPr>
        </p:nvSpPr>
        <p:spPr/>
        <p:txBody>
          <a:bodyPr/>
          <a:lstStyle/>
          <a:p>
            <a:r>
              <a:rPr lang="en-US" dirty="0"/>
              <a:t>19</a:t>
            </a:r>
            <a:endParaRPr dirty="0"/>
          </a:p>
        </p:txBody>
      </p:sp>
      <p:cxnSp>
        <p:nvCxnSpPr>
          <p:cNvPr id="4" name="Straight Connector 3">
            <a:extLst>
              <a:ext uri="{FF2B5EF4-FFF2-40B4-BE49-F238E27FC236}">
                <a16:creationId xmlns:a16="http://schemas.microsoft.com/office/drawing/2014/main" id="{F643FA06-F2F0-1E54-9DCE-891D1807AB9E}"/>
              </a:ext>
            </a:extLst>
          </p:cNvPr>
          <p:cNvCxnSpPr>
            <a:cxnSpLocks/>
          </p:cNvCxnSpPr>
          <p:nvPr/>
        </p:nvCxnSpPr>
        <p:spPr>
          <a:xfrm>
            <a:off x="342000" y="64188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7A3E6A8-C135-C8F0-11D5-1F31E9976A93}"/>
              </a:ext>
            </a:extLst>
          </p:cNvPr>
          <p:cNvPicPr/>
          <p:nvPr/>
        </p:nvPicPr>
        <p:blipFill>
          <a:blip r:embed="rId2">
            <a:extLst>
              <a:ext uri="{28A0092B-C50C-407E-A947-70E740481C1C}">
                <a14:useLocalDpi xmlns:a14="http://schemas.microsoft.com/office/drawing/2010/main" val="0"/>
              </a:ext>
            </a:extLst>
          </a:blip>
          <a:srcRect t="49543"/>
          <a:stretch>
            <a:fillRect/>
          </a:stretch>
        </p:blipFill>
        <p:spPr>
          <a:xfrm>
            <a:off x="2215620" y="988571"/>
            <a:ext cx="5425560" cy="3399420"/>
          </a:xfrm>
          <a:prstGeom prst="rect">
            <a:avLst/>
          </a:prstGeom>
          <a:noFill/>
          <a:ln w="0">
            <a:noFill/>
          </a:ln>
        </p:spPr>
      </p:pic>
    </p:spTree>
    <p:extLst>
      <p:ext uri="{BB962C8B-B14F-4D97-AF65-F5344CB8AC3E}">
        <p14:creationId xmlns:p14="http://schemas.microsoft.com/office/powerpoint/2010/main" val="2305842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53F2C-07AA-2286-3438-2546B06D269A}"/>
            </a:ext>
          </a:extLst>
        </p:cNvPr>
        <p:cNvGrpSpPr/>
        <p:nvPr/>
      </p:nvGrpSpPr>
      <p:grpSpPr>
        <a:xfrm>
          <a:off x="0" y="0"/>
          <a:ext cx="0" cy="0"/>
          <a:chOff x="0" y="0"/>
          <a:chExt cx="0" cy="0"/>
        </a:xfrm>
      </p:grpSpPr>
      <p:sp>
        <p:nvSpPr>
          <p:cNvPr id="78" name="TextBox 77">
            <a:extLst>
              <a:ext uri="{FF2B5EF4-FFF2-40B4-BE49-F238E27FC236}">
                <a16:creationId xmlns:a16="http://schemas.microsoft.com/office/drawing/2014/main" id="{E9323799-7EA0-EDE0-D124-324DC763C061}"/>
              </a:ext>
            </a:extLst>
          </p:cNvPr>
          <p:cNvSpPr txBox="1"/>
          <p:nvPr/>
        </p:nvSpPr>
        <p:spPr>
          <a:xfrm>
            <a:off x="240840" y="65759"/>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Interface Design</a:t>
            </a:r>
          </a:p>
        </p:txBody>
      </p:sp>
      <p:pic>
        <p:nvPicPr>
          <p:cNvPr id="80" name="Picture 79">
            <a:extLst>
              <a:ext uri="{FF2B5EF4-FFF2-40B4-BE49-F238E27FC236}">
                <a16:creationId xmlns:a16="http://schemas.microsoft.com/office/drawing/2014/main" id="{AE92F916-25F7-041E-6C72-FE6F0387A764}"/>
              </a:ext>
            </a:extLst>
          </p:cNvPr>
          <p:cNvPicPr/>
          <p:nvPr/>
        </p:nvPicPr>
        <p:blipFill>
          <a:blip r:embed="rId2">
            <a:extLst>
              <a:ext uri="{28A0092B-C50C-407E-A947-70E740481C1C}">
                <a14:useLocalDpi xmlns:a14="http://schemas.microsoft.com/office/drawing/2010/main" val="0"/>
              </a:ext>
            </a:extLst>
          </a:blip>
          <a:srcRect l="458" r="825"/>
          <a:stretch>
            <a:fillRect/>
          </a:stretch>
        </p:blipFill>
        <p:spPr>
          <a:xfrm>
            <a:off x="1620837" y="838200"/>
            <a:ext cx="6838950" cy="4004899"/>
          </a:xfrm>
          <a:prstGeom prst="rect">
            <a:avLst/>
          </a:prstGeom>
          <a:noFill/>
          <a:ln w="0">
            <a:noFill/>
          </a:ln>
        </p:spPr>
      </p:pic>
      <p:sp>
        <p:nvSpPr>
          <p:cNvPr id="81" name="TextBox 80">
            <a:extLst>
              <a:ext uri="{FF2B5EF4-FFF2-40B4-BE49-F238E27FC236}">
                <a16:creationId xmlns:a16="http://schemas.microsoft.com/office/drawing/2014/main" id="{9F86C0FE-3693-8108-FC69-7BCA68201C6A}"/>
              </a:ext>
            </a:extLst>
          </p:cNvPr>
          <p:cNvSpPr txBox="1"/>
          <p:nvPr/>
        </p:nvSpPr>
        <p:spPr>
          <a:xfrm>
            <a:off x="3346887" y="5062150"/>
            <a:ext cx="3386850" cy="274680"/>
          </a:xfrm>
          <a:prstGeom prst="rect">
            <a:avLst/>
          </a:prstGeom>
          <a:noFill/>
          <a:ln w="0">
            <a:noFill/>
          </a:ln>
        </p:spPr>
        <p:txBody>
          <a:bodyPr wrap="square" lIns="90000" tIns="45000" rIns="90000" bIns="45000" anchor="t">
            <a:spAutoFit/>
          </a:bodyPr>
          <a:lstStyle/>
          <a:p>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5: Home Page</a:t>
            </a:r>
            <a:r>
              <a:rPr lang="en-US" sz="1200" dirty="0">
                <a:solidFill>
                  <a:srgbClr val="000000"/>
                </a:solidFill>
                <a:latin typeface="Times New Roman" panose="02020603050405020304" pitchFamily="18" charset="0"/>
                <a:cs typeface="Times New Roman" panose="02020603050405020304" pitchFamily="18" charset="0"/>
              </a:rPr>
              <a:t> of</a:t>
            </a:r>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 Activity Booking Platform</a:t>
            </a:r>
          </a:p>
        </p:txBody>
      </p:sp>
      <p:sp>
        <p:nvSpPr>
          <p:cNvPr id="2" name="PlaceHolder 1">
            <a:extLst>
              <a:ext uri="{FF2B5EF4-FFF2-40B4-BE49-F238E27FC236}">
                <a16:creationId xmlns:a16="http://schemas.microsoft.com/office/drawing/2014/main" id="{22EEE4F3-5B86-A320-E4C9-B036993AC6E4}"/>
              </a:ext>
            </a:extLst>
          </p:cNvPr>
          <p:cNvSpPr>
            <a:spLocks noGrp="1"/>
          </p:cNvSpPr>
          <p:nvPr>
            <p:ph type="sldNum" idx="3"/>
          </p:nvPr>
        </p:nvSpPr>
        <p:spPr/>
        <p:txBody>
          <a:bodyPr/>
          <a:lstStyle/>
          <a:p>
            <a:r>
              <a:rPr lang="en-US" dirty="0"/>
              <a:t>20</a:t>
            </a:r>
            <a:endParaRPr dirty="0"/>
          </a:p>
        </p:txBody>
      </p:sp>
      <p:cxnSp>
        <p:nvCxnSpPr>
          <p:cNvPr id="4" name="Straight Connector 3">
            <a:extLst>
              <a:ext uri="{FF2B5EF4-FFF2-40B4-BE49-F238E27FC236}">
                <a16:creationId xmlns:a16="http://schemas.microsoft.com/office/drawing/2014/main" id="{C76AC8A9-F7ED-21EB-4C8E-14DA3D240206}"/>
              </a:ext>
            </a:extLst>
          </p:cNvPr>
          <p:cNvCxnSpPr>
            <a:cxnSpLocks/>
          </p:cNvCxnSpPr>
          <p:nvPr/>
        </p:nvCxnSpPr>
        <p:spPr>
          <a:xfrm>
            <a:off x="342000" y="64188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353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6313E-7AD4-6F48-3BDC-9696B2646FBA}"/>
            </a:ext>
          </a:extLst>
        </p:cNvPr>
        <p:cNvGrpSpPr/>
        <p:nvPr/>
      </p:nvGrpSpPr>
      <p:grpSpPr>
        <a:xfrm>
          <a:off x="0" y="0"/>
          <a:ext cx="0" cy="0"/>
          <a:chOff x="0" y="0"/>
          <a:chExt cx="0" cy="0"/>
        </a:xfrm>
      </p:grpSpPr>
      <p:sp>
        <p:nvSpPr>
          <p:cNvPr id="78" name="TextBox 77">
            <a:extLst>
              <a:ext uri="{FF2B5EF4-FFF2-40B4-BE49-F238E27FC236}">
                <a16:creationId xmlns:a16="http://schemas.microsoft.com/office/drawing/2014/main" id="{E4F714CF-893E-FF06-FA99-0E3997C42ED0}"/>
              </a:ext>
            </a:extLst>
          </p:cNvPr>
          <p:cNvSpPr txBox="1"/>
          <p:nvPr/>
        </p:nvSpPr>
        <p:spPr>
          <a:xfrm>
            <a:off x="240840" y="65759"/>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Interface Design</a:t>
            </a:r>
          </a:p>
        </p:txBody>
      </p:sp>
      <p:pic>
        <p:nvPicPr>
          <p:cNvPr id="80" name="Picture 79">
            <a:extLst>
              <a:ext uri="{FF2B5EF4-FFF2-40B4-BE49-F238E27FC236}">
                <a16:creationId xmlns:a16="http://schemas.microsoft.com/office/drawing/2014/main" id="{D348A2DB-7FFC-495E-ECD1-14E1C1D55890}"/>
              </a:ext>
            </a:extLst>
          </p:cNvPr>
          <p:cNvPicPr/>
          <p:nvPr/>
        </p:nvPicPr>
        <p:blipFill>
          <a:blip r:embed="rId2">
            <a:extLst>
              <a:ext uri="{28A0092B-C50C-407E-A947-70E740481C1C}">
                <a14:useLocalDpi xmlns:a14="http://schemas.microsoft.com/office/drawing/2010/main" val="0"/>
              </a:ext>
            </a:extLst>
          </a:blip>
          <a:srcRect l="465" t="-1608" r="278" b="1004"/>
          <a:stretch>
            <a:fillRect/>
          </a:stretch>
        </p:blipFill>
        <p:spPr>
          <a:xfrm>
            <a:off x="1646237" y="649080"/>
            <a:ext cx="6788150" cy="4272165"/>
          </a:xfrm>
          <a:prstGeom prst="rect">
            <a:avLst/>
          </a:prstGeom>
          <a:noFill/>
          <a:ln w="0">
            <a:noFill/>
          </a:ln>
        </p:spPr>
      </p:pic>
      <p:sp>
        <p:nvSpPr>
          <p:cNvPr id="81" name="TextBox 80">
            <a:extLst>
              <a:ext uri="{FF2B5EF4-FFF2-40B4-BE49-F238E27FC236}">
                <a16:creationId xmlns:a16="http://schemas.microsoft.com/office/drawing/2014/main" id="{D7C02C50-DE86-1BAC-864E-9EDBC2317112}"/>
              </a:ext>
            </a:extLst>
          </p:cNvPr>
          <p:cNvSpPr txBox="1"/>
          <p:nvPr/>
        </p:nvSpPr>
        <p:spPr>
          <a:xfrm>
            <a:off x="3308787" y="5062150"/>
            <a:ext cx="3463050" cy="274680"/>
          </a:xfrm>
          <a:prstGeom prst="rect">
            <a:avLst/>
          </a:prstGeom>
          <a:noFill/>
          <a:ln w="0">
            <a:noFill/>
          </a:ln>
        </p:spPr>
        <p:txBody>
          <a:bodyPr wrap="square" lIns="90000" tIns="45000" rIns="90000" bIns="45000" anchor="t">
            <a:spAutoFit/>
          </a:bodyPr>
          <a:lstStyle/>
          <a:p>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5: Activity Page </a:t>
            </a:r>
            <a:r>
              <a:rPr lang="en-US" sz="1200" dirty="0">
                <a:solidFill>
                  <a:srgbClr val="000000"/>
                </a:solidFill>
                <a:latin typeface="Times New Roman" panose="02020603050405020304" pitchFamily="18" charset="0"/>
                <a:cs typeface="Times New Roman" panose="02020603050405020304" pitchFamily="18" charset="0"/>
              </a:rPr>
              <a:t>of</a:t>
            </a:r>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 Activity Booking Platform</a:t>
            </a:r>
          </a:p>
        </p:txBody>
      </p:sp>
      <p:sp>
        <p:nvSpPr>
          <p:cNvPr id="2" name="PlaceHolder 1">
            <a:extLst>
              <a:ext uri="{FF2B5EF4-FFF2-40B4-BE49-F238E27FC236}">
                <a16:creationId xmlns:a16="http://schemas.microsoft.com/office/drawing/2014/main" id="{3E867716-97DE-9753-E6A3-A172C8445473}"/>
              </a:ext>
            </a:extLst>
          </p:cNvPr>
          <p:cNvSpPr>
            <a:spLocks noGrp="1"/>
          </p:cNvSpPr>
          <p:nvPr>
            <p:ph type="sldNum" idx="3"/>
          </p:nvPr>
        </p:nvSpPr>
        <p:spPr/>
        <p:txBody>
          <a:bodyPr/>
          <a:lstStyle/>
          <a:p>
            <a:r>
              <a:rPr lang="en-US" dirty="0"/>
              <a:t>21</a:t>
            </a:r>
            <a:endParaRPr dirty="0"/>
          </a:p>
        </p:txBody>
      </p:sp>
      <p:cxnSp>
        <p:nvCxnSpPr>
          <p:cNvPr id="4" name="Straight Connector 3">
            <a:extLst>
              <a:ext uri="{FF2B5EF4-FFF2-40B4-BE49-F238E27FC236}">
                <a16:creationId xmlns:a16="http://schemas.microsoft.com/office/drawing/2014/main" id="{F56D977E-357B-F178-6902-9ECB100F2FC7}"/>
              </a:ext>
            </a:extLst>
          </p:cNvPr>
          <p:cNvCxnSpPr>
            <a:cxnSpLocks/>
          </p:cNvCxnSpPr>
          <p:nvPr/>
        </p:nvCxnSpPr>
        <p:spPr>
          <a:xfrm>
            <a:off x="342000" y="64188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92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5EEFD-4DB1-7116-F434-8718A29B0922}"/>
            </a:ext>
          </a:extLst>
        </p:cNvPr>
        <p:cNvGrpSpPr/>
        <p:nvPr/>
      </p:nvGrpSpPr>
      <p:grpSpPr>
        <a:xfrm>
          <a:off x="0" y="0"/>
          <a:ext cx="0" cy="0"/>
          <a:chOff x="0" y="0"/>
          <a:chExt cx="0" cy="0"/>
        </a:xfrm>
      </p:grpSpPr>
      <p:sp>
        <p:nvSpPr>
          <p:cNvPr id="78" name="TextBox 77">
            <a:extLst>
              <a:ext uri="{FF2B5EF4-FFF2-40B4-BE49-F238E27FC236}">
                <a16:creationId xmlns:a16="http://schemas.microsoft.com/office/drawing/2014/main" id="{E262373F-FBEC-A2E6-0D15-D6A6171765D6}"/>
              </a:ext>
            </a:extLst>
          </p:cNvPr>
          <p:cNvSpPr txBox="1"/>
          <p:nvPr/>
        </p:nvSpPr>
        <p:spPr>
          <a:xfrm>
            <a:off x="240840" y="65759"/>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Interface Design</a:t>
            </a:r>
          </a:p>
        </p:txBody>
      </p:sp>
      <p:pic>
        <p:nvPicPr>
          <p:cNvPr id="80" name="Picture 79">
            <a:extLst>
              <a:ext uri="{FF2B5EF4-FFF2-40B4-BE49-F238E27FC236}">
                <a16:creationId xmlns:a16="http://schemas.microsoft.com/office/drawing/2014/main" id="{3459F1C9-2229-2218-8BFC-35743C5F9CCE}"/>
              </a:ext>
            </a:extLst>
          </p:cNvPr>
          <p:cNvPicPr/>
          <p:nvPr/>
        </p:nvPicPr>
        <p:blipFill>
          <a:blip r:embed="rId2">
            <a:extLst>
              <a:ext uri="{28A0092B-C50C-407E-A947-70E740481C1C}">
                <a14:useLocalDpi xmlns:a14="http://schemas.microsoft.com/office/drawing/2010/main" val="0"/>
              </a:ext>
            </a:extLst>
          </a:blip>
          <a:srcRect l="928" r="928"/>
          <a:stretch/>
        </p:blipFill>
        <p:spPr>
          <a:xfrm>
            <a:off x="1620837" y="832826"/>
            <a:ext cx="6838950" cy="4004899"/>
          </a:xfrm>
          <a:prstGeom prst="rect">
            <a:avLst/>
          </a:prstGeom>
          <a:noFill/>
          <a:ln w="0">
            <a:noFill/>
          </a:ln>
        </p:spPr>
      </p:pic>
      <p:sp>
        <p:nvSpPr>
          <p:cNvPr id="81" name="TextBox 80">
            <a:extLst>
              <a:ext uri="{FF2B5EF4-FFF2-40B4-BE49-F238E27FC236}">
                <a16:creationId xmlns:a16="http://schemas.microsoft.com/office/drawing/2014/main" id="{BFCF7D08-1974-BB4D-9332-B78CD29B1575}"/>
              </a:ext>
            </a:extLst>
          </p:cNvPr>
          <p:cNvSpPr txBox="1"/>
          <p:nvPr/>
        </p:nvSpPr>
        <p:spPr>
          <a:xfrm>
            <a:off x="3505153" y="5062150"/>
            <a:ext cx="3070318" cy="274680"/>
          </a:xfrm>
          <a:prstGeom prst="rect">
            <a:avLst/>
          </a:prstGeom>
          <a:noFill/>
          <a:ln w="0">
            <a:noFill/>
          </a:ln>
        </p:spPr>
        <p:txBody>
          <a:bodyPr wrap="square" lIns="90000" tIns="45000" rIns="90000" bIns="45000" anchor="t">
            <a:spAutoFit/>
          </a:bodyPr>
          <a:lstStyle/>
          <a:p>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5: Sign In </a:t>
            </a:r>
            <a:r>
              <a:rPr lang="en-US" sz="1200" dirty="0">
                <a:solidFill>
                  <a:srgbClr val="000000"/>
                </a:solidFill>
                <a:latin typeface="Times New Roman" panose="02020603050405020304" pitchFamily="18" charset="0"/>
                <a:cs typeface="Times New Roman" panose="02020603050405020304" pitchFamily="18" charset="0"/>
              </a:rPr>
              <a:t>of</a:t>
            </a:r>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 Activity Booking Platform</a:t>
            </a:r>
          </a:p>
        </p:txBody>
      </p:sp>
      <p:sp>
        <p:nvSpPr>
          <p:cNvPr id="2" name="PlaceHolder 1">
            <a:extLst>
              <a:ext uri="{FF2B5EF4-FFF2-40B4-BE49-F238E27FC236}">
                <a16:creationId xmlns:a16="http://schemas.microsoft.com/office/drawing/2014/main" id="{3A77245A-8F27-91D7-7A6D-9DE211C66228}"/>
              </a:ext>
            </a:extLst>
          </p:cNvPr>
          <p:cNvSpPr>
            <a:spLocks noGrp="1"/>
          </p:cNvSpPr>
          <p:nvPr>
            <p:ph type="sldNum" idx="3"/>
          </p:nvPr>
        </p:nvSpPr>
        <p:spPr/>
        <p:txBody>
          <a:bodyPr/>
          <a:lstStyle/>
          <a:p>
            <a:r>
              <a:rPr lang="en-US" dirty="0"/>
              <a:t>22</a:t>
            </a:r>
            <a:endParaRPr dirty="0"/>
          </a:p>
        </p:txBody>
      </p:sp>
      <p:cxnSp>
        <p:nvCxnSpPr>
          <p:cNvPr id="4" name="Straight Connector 3">
            <a:extLst>
              <a:ext uri="{FF2B5EF4-FFF2-40B4-BE49-F238E27FC236}">
                <a16:creationId xmlns:a16="http://schemas.microsoft.com/office/drawing/2014/main" id="{F993ED14-C228-87E8-AFA3-B6E01DF1E87B}"/>
              </a:ext>
            </a:extLst>
          </p:cNvPr>
          <p:cNvCxnSpPr>
            <a:cxnSpLocks/>
          </p:cNvCxnSpPr>
          <p:nvPr/>
        </p:nvCxnSpPr>
        <p:spPr>
          <a:xfrm>
            <a:off x="342000" y="64188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845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BA7B-5CAD-D156-F3E4-68B1E7AEACEA}"/>
            </a:ext>
          </a:extLst>
        </p:cNvPr>
        <p:cNvGrpSpPr/>
        <p:nvPr/>
      </p:nvGrpSpPr>
      <p:grpSpPr>
        <a:xfrm>
          <a:off x="0" y="0"/>
          <a:ext cx="0" cy="0"/>
          <a:chOff x="0" y="0"/>
          <a:chExt cx="0" cy="0"/>
        </a:xfrm>
      </p:grpSpPr>
      <p:sp>
        <p:nvSpPr>
          <p:cNvPr id="78" name="TextBox 77">
            <a:extLst>
              <a:ext uri="{FF2B5EF4-FFF2-40B4-BE49-F238E27FC236}">
                <a16:creationId xmlns:a16="http://schemas.microsoft.com/office/drawing/2014/main" id="{CE0620E9-7FD1-C6B0-9247-86DE64FE444D}"/>
              </a:ext>
            </a:extLst>
          </p:cNvPr>
          <p:cNvSpPr txBox="1"/>
          <p:nvPr/>
        </p:nvSpPr>
        <p:spPr>
          <a:xfrm>
            <a:off x="240840" y="65759"/>
            <a:ext cx="9144000" cy="583321"/>
          </a:xfrm>
          <a:prstGeom prst="rect">
            <a:avLst/>
          </a:prstGeom>
          <a:noFill/>
          <a:ln w="0">
            <a:noFill/>
          </a:ln>
        </p:spPr>
        <p:txBody>
          <a:bodyPr lIns="90000" tIns="45000" rIns="90000" bIns="45000" anchor="t">
            <a:spAutoFit/>
          </a:bodyPr>
          <a:lstStyle/>
          <a:p>
            <a:pPr algn="just"/>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Interface Design</a:t>
            </a:r>
          </a:p>
        </p:txBody>
      </p:sp>
      <p:pic>
        <p:nvPicPr>
          <p:cNvPr id="80" name="Picture 79">
            <a:extLst>
              <a:ext uri="{FF2B5EF4-FFF2-40B4-BE49-F238E27FC236}">
                <a16:creationId xmlns:a16="http://schemas.microsoft.com/office/drawing/2014/main" id="{018F1451-C257-6E48-92BF-B9DBFBF08812}"/>
              </a:ext>
            </a:extLst>
          </p:cNvPr>
          <p:cNvPicPr/>
          <p:nvPr/>
        </p:nvPicPr>
        <p:blipFill>
          <a:blip r:embed="rId2">
            <a:extLst>
              <a:ext uri="{28A0092B-C50C-407E-A947-70E740481C1C}">
                <a14:useLocalDpi xmlns:a14="http://schemas.microsoft.com/office/drawing/2010/main" val="0"/>
              </a:ext>
            </a:extLst>
          </a:blip>
          <a:srcRect l="708" r="708"/>
          <a:stretch/>
        </p:blipFill>
        <p:spPr>
          <a:xfrm>
            <a:off x="1620837" y="832826"/>
            <a:ext cx="6838950" cy="4004899"/>
          </a:xfrm>
          <a:prstGeom prst="rect">
            <a:avLst/>
          </a:prstGeom>
          <a:noFill/>
          <a:ln w="0">
            <a:noFill/>
          </a:ln>
        </p:spPr>
      </p:pic>
      <p:sp>
        <p:nvSpPr>
          <p:cNvPr id="81" name="TextBox 80">
            <a:extLst>
              <a:ext uri="{FF2B5EF4-FFF2-40B4-BE49-F238E27FC236}">
                <a16:creationId xmlns:a16="http://schemas.microsoft.com/office/drawing/2014/main" id="{0CBD9205-E753-7B7E-C8F9-5A41890F7F95}"/>
              </a:ext>
            </a:extLst>
          </p:cNvPr>
          <p:cNvSpPr txBox="1"/>
          <p:nvPr/>
        </p:nvSpPr>
        <p:spPr>
          <a:xfrm>
            <a:off x="3309914" y="5062150"/>
            <a:ext cx="3460797" cy="275545"/>
          </a:xfrm>
          <a:prstGeom prst="rect">
            <a:avLst/>
          </a:prstGeom>
          <a:noFill/>
          <a:ln w="0">
            <a:noFill/>
          </a:ln>
        </p:spPr>
        <p:txBody>
          <a:bodyPr wrap="square" lIns="90000" tIns="45000" rIns="90000" bIns="45000" anchor="t">
            <a:spAutoFit/>
          </a:bodyPr>
          <a:lstStyle/>
          <a:p>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Figure 5: </a:t>
            </a:r>
            <a:r>
              <a:rPr lang="en-US" sz="1200" b="0" u="none" strike="noStrike" dirty="0" err="1">
                <a:solidFill>
                  <a:srgbClr val="000000"/>
                </a:solidFill>
                <a:effectLst/>
                <a:uFillTx/>
                <a:latin typeface="Times New Roman" panose="02020603050405020304" pitchFamily="18" charset="0"/>
                <a:cs typeface="Times New Roman" panose="02020603050405020304" pitchFamily="18" charset="0"/>
              </a:rPr>
              <a:t>LogIn</a:t>
            </a:r>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 Page  </a:t>
            </a:r>
            <a:r>
              <a:rPr lang="en-US" sz="1200" dirty="0">
                <a:solidFill>
                  <a:srgbClr val="000000"/>
                </a:solidFill>
                <a:latin typeface="Times New Roman" panose="02020603050405020304" pitchFamily="18" charset="0"/>
                <a:cs typeface="Times New Roman" panose="02020603050405020304" pitchFamily="18" charset="0"/>
              </a:rPr>
              <a:t>of</a:t>
            </a:r>
            <a:r>
              <a:rPr lang="en-US" sz="1200" b="0" u="none" strike="noStrike" dirty="0">
                <a:solidFill>
                  <a:srgbClr val="000000"/>
                </a:solidFill>
                <a:effectLst/>
                <a:uFillTx/>
                <a:latin typeface="Times New Roman" panose="02020603050405020304" pitchFamily="18" charset="0"/>
                <a:cs typeface="Times New Roman" panose="02020603050405020304" pitchFamily="18" charset="0"/>
              </a:rPr>
              <a:t> Activity Booking Platform</a:t>
            </a:r>
          </a:p>
        </p:txBody>
      </p:sp>
      <p:sp>
        <p:nvSpPr>
          <p:cNvPr id="2" name="PlaceHolder 1">
            <a:extLst>
              <a:ext uri="{FF2B5EF4-FFF2-40B4-BE49-F238E27FC236}">
                <a16:creationId xmlns:a16="http://schemas.microsoft.com/office/drawing/2014/main" id="{019BB48A-5932-B075-FF9C-BD2049297AB9}"/>
              </a:ext>
            </a:extLst>
          </p:cNvPr>
          <p:cNvSpPr>
            <a:spLocks noGrp="1"/>
          </p:cNvSpPr>
          <p:nvPr>
            <p:ph type="sldNum" idx="3"/>
          </p:nvPr>
        </p:nvSpPr>
        <p:spPr/>
        <p:txBody>
          <a:bodyPr/>
          <a:lstStyle/>
          <a:p>
            <a:r>
              <a:rPr lang="en-US" dirty="0"/>
              <a:t>23</a:t>
            </a:r>
            <a:endParaRPr dirty="0"/>
          </a:p>
        </p:txBody>
      </p:sp>
      <p:cxnSp>
        <p:nvCxnSpPr>
          <p:cNvPr id="4" name="Straight Connector 3">
            <a:extLst>
              <a:ext uri="{FF2B5EF4-FFF2-40B4-BE49-F238E27FC236}">
                <a16:creationId xmlns:a16="http://schemas.microsoft.com/office/drawing/2014/main" id="{B4874591-A843-0821-D3DA-3FD8D5B5FE9E}"/>
              </a:ext>
            </a:extLst>
          </p:cNvPr>
          <p:cNvCxnSpPr>
            <a:cxnSpLocks/>
          </p:cNvCxnSpPr>
          <p:nvPr/>
        </p:nvCxnSpPr>
        <p:spPr>
          <a:xfrm>
            <a:off x="342000" y="64188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441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p:cNvSpPr txBox="1"/>
          <p:nvPr/>
        </p:nvSpPr>
        <p:spPr>
          <a:xfrm>
            <a:off x="457200" y="457200"/>
            <a:ext cx="9144000" cy="490988"/>
          </a:xfrm>
          <a:prstGeom prst="rect">
            <a:avLst/>
          </a:prstGeom>
          <a:noFill/>
          <a:ln w="0">
            <a:noFill/>
          </a:ln>
        </p:spPr>
        <p:txBody>
          <a:bodyPr lIns="90000" tIns="45000" rIns="90000" bIns="45000" anchor="t">
            <a:spAutoFit/>
          </a:bodyPr>
          <a:lstStyle/>
          <a:p>
            <a:pPr algn="just"/>
            <a:r>
              <a:rPr lang="en-US" sz="2600" b="1" u="none" strike="noStrike" dirty="0">
                <a:solidFill>
                  <a:srgbClr val="000000"/>
                </a:solidFill>
                <a:effectLst/>
                <a:uFillTx/>
                <a:latin typeface="Times New Roman" panose="02020603050405020304" pitchFamily="18" charset="0"/>
                <a:cs typeface="Times New Roman" panose="02020603050405020304" pitchFamily="18" charset="0"/>
              </a:rPr>
              <a:t>Gantt Chart</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85" name="Picture 84"/>
          <p:cNvPicPr/>
          <p:nvPr/>
        </p:nvPicPr>
        <p:blipFill>
          <a:blip r:embed="rId2">
            <a:extLst>
              <a:ext uri="{28A0092B-C50C-407E-A947-70E740481C1C}">
                <a14:useLocalDpi xmlns:a14="http://schemas.microsoft.com/office/drawing/2010/main" val="0"/>
              </a:ext>
            </a:extLst>
          </a:blip>
          <a:srcRect t="5613" b="5613"/>
          <a:stretch/>
        </p:blipFill>
        <p:spPr>
          <a:xfrm>
            <a:off x="795012" y="1173155"/>
            <a:ext cx="8490600" cy="3324240"/>
          </a:xfrm>
          <a:prstGeom prst="rect">
            <a:avLst/>
          </a:prstGeom>
          <a:noFill/>
          <a:ln w="0">
            <a:noFill/>
          </a:ln>
        </p:spPr>
      </p:pic>
      <p:sp>
        <p:nvSpPr>
          <p:cNvPr id="86" name="TextBox 85"/>
          <p:cNvSpPr txBox="1"/>
          <p:nvPr/>
        </p:nvSpPr>
        <p:spPr>
          <a:xfrm>
            <a:off x="2628852" y="4459320"/>
            <a:ext cx="4822920" cy="337100"/>
          </a:xfrm>
          <a:prstGeom prst="rect">
            <a:avLst/>
          </a:prstGeom>
          <a:noFill/>
          <a:ln w="0">
            <a:noFill/>
          </a:ln>
        </p:spPr>
        <p:txBody>
          <a:bodyPr lIns="90000" tIns="45000" rIns="90000" bIns="45000" anchor="t">
            <a:spAutoFit/>
          </a:bodyPr>
          <a:lstStyle/>
          <a:p>
            <a:r>
              <a:rPr lang="en-US" sz="1600" b="0" u="none" strike="noStrike" dirty="0">
                <a:solidFill>
                  <a:srgbClr val="000000"/>
                </a:solidFill>
                <a:effectLst/>
                <a:uFillTx/>
                <a:latin typeface="Times New Roman" panose="02020603050405020304" pitchFamily="18" charset="0"/>
                <a:cs typeface="Times New Roman" panose="02020603050405020304" pitchFamily="18" charset="0"/>
              </a:rPr>
              <a:t>Figure 6: Gantt Chart for Activity Booking Platform</a:t>
            </a:r>
          </a:p>
        </p:txBody>
      </p:sp>
      <p:sp>
        <p:nvSpPr>
          <p:cNvPr id="2" name="PlaceHolder 1"/>
          <p:cNvSpPr>
            <a:spLocks noGrp="1"/>
          </p:cNvSpPr>
          <p:nvPr>
            <p:ph type="sldNum" idx="3"/>
          </p:nvPr>
        </p:nvSpPr>
        <p:spPr/>
        <p:txBody>
          <a:bodyPr/>
          <a:lstStyle/>
          <a:p>
            <a:r>
              <a:rPr lang="en-US" dirty="0"/>
              <a:t>24</a:t>
            </a:r>
            <a:endParaRPr dirty="0"/>
          </a:p>
        </p:txBody>
      </p:sp>
      <p:cxnSp>
        <p:nvCxnSpPr>
          <p:cNvPr id="3" name="Straight Connector 2">
            <a:extLst>
              <a:ext uri="{FF2B5EF4-FFF2-40B4-BE49-F238E27FC236}">
                <a16:creationId xmlns:a16="http://schemas.microsoft.com/office/drawing/2014/main" id="{2FA5B077-F075-62CC-BE4A-3ED483B6311D}"/>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6885A-F8DC-2C5D-14AC-CF589BD1CB0F}"/>
            </a:ext>
          </a:extLst>
        </p:cNvPr>
        <p:cNvGrpSpPr/>
        <p:nvPr/>
      </p:nvGrpSpPr>
      <p:grpSpPr>
        <a:xfrm>
          <a:off x="0" y="0"/>
          <a:ext cx="0" cy="0"/>
          <a:chOff x="0" y="0"/>
          <a:chExt cx="0" cy="0"/>
        </a:xfrm>
      </p:grpSpPr>
      <p:sp>
        <p:nvSpPr>
          <p:cNvPr id="88" name="TextBox 87">
            <a:extLst>
              <a:ext uri="{FF2B5EF4-FFF2-40B4-BE49-F238E27FC236}">
                <a16:creationId xmlns:a16="http://schemas.microsoft.com/office/drawing/2014/main" id="{280C3FF0-59D6-EFC5-B78E-D938B72DDA78}"/>
              </a:ext>
            </a:extLst>
          </p:cNvPr>
          <p:cNvSpPr txBox="1"/>
          <p:nvPr/>
        </p:nvSpPr>
        <p:spPr>
          <a:xfrm>
            <a:off x="457200" y="457200"/>
            <a:ext cx="9144000" cy="546645"/>
          </a:xfrm>
          <a:prstGeom prst="rect">
            <a:avLst/>
          </a:prstGeom>
          <a:noFill/>
          <a:ln w="0">
            <a:noFill/>
          </a:ln>
        </p:spPr>
        <p:txBody>
          <a:bodyPr lIns="90000" tIns="45000" rIns="90000" bIns="45000" anchor="t">
            <a:spAutoFit/>
          </a:bodyPr>
          <a:lstStyle/>
          <a:p>
            <a:pPr>
              <a:lnSpc>
                <a:spcPct val="115000"/>
              </a:lnSpc>
              <a:buClr>
                <a:srgbClr val="000000"/>
              </a:buClr>
              <a:buSzPct val="45000"/>
            </a:pPr>
            <a:r>
              <a:rPr lang="en-US" sz="2800" dirty="0">
                <a:latin typeface="Times New Roman" panose="02020603050405020304" pitchFamily="18" charset="0"/>
                <a:cs typeface="Times New Roman" panose="02020603050405020304" pitchFamily="18" charset="0"/>
              </a:rPr>
              <a:t>Tasks Completed</a:t>
            </a:r>
          </a:p>
        </p:txBody>
      </p:sp>
      <p:sp>
        <p:nvSpPr>
          <p:cNvPr id="90" name="TextBox 89">
            <a:extLst>
              <a:ext uri="{FF2B5EF4-FFF2-40B4-BE49-F238E27FC236}">
                <a16:creationId xmlns:a16="http://schemas.microsoft.com/office/drawing/2014/main" id="{A789C1DA-AF23-CBA0-5951-A232C12272EF}"/>
              </a:ext>
            </a:extLst>
          </p:cNvPr>
          <p:cNvSpPr txBox="1"/>
          <p:nvPr/>
        </p:nvSpPr>
        <p:spPr>
          <a:xfrm>
            <a:off x="457200" y="1142640"/>
            <a:ext cx="8723520" cy="2553091"/>
          </a:xfrm>
          <a:prstGeom prst="rect">
            <a:avLst/>
          </a:prstGeom>
          <a:noFill/>
          <a:ln w="0">
            <a:noFill/>
          </a:ln>
        </p:spPr>
        <p:txBody>
          <a:bodyPr lIns="90000" tIns="45000" rIns="90000" bIns="45000" anchor="t">
            <a:spAutoFit/>
          </a:bodyPr>
          <a:lstStyle/>
          <a:p>
            <a:pPr algn="just">
              <a:spcBef>
                <a:spcPts val="1191"/>
              </a:spcBef>
              <a:spcAft>
                <a:spcPts val="992"/>
              </a:spcAft>
              <a:buClr>
                <a:srgbClr val="000000"/>
              </a:buClr>
              <a:buSzPct val="45000"/>
            </a:pPr>
            <a:r>
              <a:rPr lang="en-US" sz="2000" dirty="0">
                <a:solidFill>
                  <a:srgbClr val="000000"/>
                </a:solidFill>
                <a:latin typeface="Times New Roman" panose="02020603050405020304" pitchFamily="18" charset="0"/>
                <a:cs typeface="Times New Roman" panose="02020603050405020304" pitchFamily="18" charset="0"/>
              </a:rPr>
              <a:t>As of this mid-defense stage, we have successfully established the foundational core of the application. We have completed the User Registration and Authentication module to ensure secure access, alongside a functional Booking System for handling core transactions. The platform now supports Managing Activity and utilizes a Role-based System to differentiate between user and administrator permissions. Furthermore, we have integrated the ability for Adding New Ratings and a comprehensive system for Managing Profiles, ensuring that the basic user lifecycle is fully operational</a:t>
            </a:r>
            <a:endParaRPr lang="en-US" sz="20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 name="PlaceHolder 1">
            <a:extLst>
              <a:ext uri="{FF2B5EF4-FFF2-40B4-BE49-F238E27FC236}">
                <a16:creationId xmlns:a16="http://schemas.microsoft.com/office/drawing/2014/main" id="{7A34ECBC-A28C-C2F1-3910-AF37F117FFE2}"/>
              </a:ext>
            </a:extLst>
          </p:cNvPr>
          <p:cNvSpPr>
            <a:spLocks noGrp="1"/>
          </p:cNvSpPr>
          <p:nvPr>
            <p:ph type="sldNum" idx="3"/>
          </p:nvPr>
        </p:nvSpPr>
        <p:spPr/>
        <p:txBody>
          <a:bodyPr/>
          <a:lstStyle/>
          <a:p>
            <a:r>
              <a:rPr lang="en-US" dirty="0"/>
              <a:t>25</a:t>
            </a:r>
            <a:endParaRPr dirty="0"/>
          </a:p>
        </p:txBody>
      </p:sp>
      <p:cxnSp>
        <p:nvCxnSpPr>
          <p:cNvPr id="3" name="Straight Connector 2">
            <a:extLst>
              <a:ext uri="{FF2B5EF4-FFF2-40B4-BE49-F238E27FC236}">
                <a16:creationId xmlns:a16="http://schemas.microsoft.com/office/drawing/2014/main" id="{B64D0B23-CC1E-A565-1BB5-586E290842EA}"/>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7104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FFD92-508F-4561-977D-99E36AB0AF90}"/>
            </a:ext>
          </a:extLst>
        </p:cNvPr>
        <p:cNvGrpSpPr/>
        <p:nvPr/>
      </p:nvGrpSpPr>
      <p:grpSpPr>
        <a:xfrm>
          <a:off x="0" y="0"/>
          <a:ext cx="0" cy="0"/>
          <a:chOff x="0" y="0"/>
          <a:chExt cx="0" cy="0"/>
        </a:xfrm>
      </p:grpSpPr>
      <p:sp>
        <p:nvSpPr>
          <p:cNvPr id="88" name="TextBox 87">
            <a:extLst>
              <a:ext uri="{FF2B5EF4-FFF2-40B4-BE49-F238E27FC236}">
                <a16:creationId xmlns:a16="http://schemas.microsoft.com/office/drawing/2014/main" id="{21E1B17F-F18F-E727-9124-11942BF3260C}"/>
              </a:ext>
            </a:extLst>
          </p:cNvPr>
          <p:cNvSpPr txBox="1"/>
          <p:nvPr/>
        </p:nvSpPr>
        <p:spPr>
          <a:xfrm>
            <a:off x="457200" y="457200"/>
            <a:ext cx="9144000" cy="481563"/>
          </a:xfrm>
          <a:prstGeom prst="rect">
            <a:avLst/>
          </a:prstGeom>
          <a:noFill/>
          <a:ln w="0">
            <a:noFill/>
          </a:ln>
        </p:spPr>
        <p:txBody>
          <a:bodyPr lIns="90000" tIns="45000" rIns="90000" bIns="45000" anchor="t">
            <a:spAutoFit/>
          </a:bodyPr>
          <a:lstStyle/>
          <a:p>
            <a:pPr>
              <a:lnSpc>
                <a:spcPct val="115000"/>
              </a:lnSpc>
              <a:buClr>
                <a:srgbClr val="000000"/>
              </a:buClr>
              <a:buSzPct val="45000"/>
            </a:pPr>
            <a:r>
              <a:rPr lang="en-US" sz="2400" dirty="0">
                <a:latin typeface="Times New Roman" panose="02020603050405020304" pitchFamily="18" charset="0"/>
                <a:cs typeface="Times New Roman" panose="02020603050405020304" pitchFamily="18" charset="0"/>
              </a:rPr>
              <a:t>Tasks Pending</a:t>
            </a:r>
          </a:p>
        </p:txBody>
      </p:sp>
      <p:sp>
        <p:nvSpPr>
          <p:cNvPr id="90" name="TextBox 89">
            <a:extLst>
              <a:ext uri="{FF2B5EF4-FFF2-40B4-BE49-F238E27FC236}">
                <a16:creationId xmlns:a16="http://schemas.microsoft.com/office/drawing/2014/main" id="{FE9C8012-8864-B324-DDEB-643AD4AC47CC}"/>
              </a:ext>
            </a:extLst>
          </p:cNvPr>
          <p:cNvSpPr txBox="1"/>
          <p:nvPr/>
        </p:nvSpPr>
        <p:spPr>
          <a:xfrm>
            <a:off x="457200" y="1142640"/>
            <a:ext cx="8723520" cy="2245315"/>
          </a:xfrm>
          <a:prstGeom prst="rect">
            <a:avLst/>
          </a:prstGeom>
          <a:noFill/>
          <a:ln w="0">
            <a:noFill/>
          </a:ln>
        </p:spPr>
        <p:txBody>
          <a:bodyPr lIns="90000" tIns="45000" rIns="90000" bIns="45000" anchor="t">
            <a:spAutoFit/>
          </a:bodyPr>
          <a:lstStyle/>
          <a:p>
            <a:pPr algn="just">
              <a:spcBef>
                <a:spcPts val="1191"/>
              </a:spcBef>
              <a:spcAft>
                <a:spcPts val="992"/>
              </a:spcAft>
              <a:buClr>
                <a:srgbClr val="000000"/>
              </a:buClr>
              <a:buSzPct val="45000"/>
            </a:pPr>
            <a:r>
              <a:rPr lang="en-US" sz="2000" b="0" u="none" strike="noStrike" dirty="0">
                <a:solidFill>
                  <a:srgbClr val="000000"/>
                </a:solidFill>
                <a:effectLst/>
                <a:uFillTx/>
                <a:latin typeface="Times New Roman" panose="02020603050405020304" pitchFamily="18" charset="0"/>
                <a:cs typeface="Times New Roman" panose="02020603050405020304" pitchFamily="18" charset="0"/>
              </a:rPr>
              <a:t>Regarding the remaining development phase, our primary focus is the completion of several core features essential for system integrity and user management. We are currently working on implementing the profile deletion mechanism and a robust interface for editing activities to ensure data flexibility. Additionally, the final stages of the project will involve the deployment of the Admin Dashboard for centralized oversight and the User Review History Page, which will serve as a comprehensive log for user feedback and transparency."</a:t>
            </a:r>
          </a:p>
        </p:txBody>
      </p:sp>
      <p:sp>
        <p:nvSpPr>
          <p:cNvPr id="2" name="PlaceHolder 1">
            <a:extLst>
              <a:ext uri="{FF2B5EF4-FFF2-40B4-BE49-F238E27FC236}">
                <a16:creationId xmlns:a16="http://schemas.microsoft.com/office/drawing/2014/main" id="{B8F7E5AB-1D9D-C52F-838E-12EB0DB342D3}"/>
              </a:ext>
            </a:extLst>
          </p:cNvPr>
          <p:cNvSpPr>
            <a:spLocks noGrp="1"/>
          </p:cNvSpPr>
          <p:nvPr>
            <p:ph type="sldNum" idx="3"/>
          </p:nvPr>
        </p:nvSpPr>
        <p:spPr/>
        <p:txBody>
          <a:bodyPr/>
          <a:lstStyle/>
          <a:p>
            <a:r>
              <a:rPr lang="en-US" dirty="0"/>
              <a:t>26</a:t>
            </a:r>
            <a:endParaRPr dirty="0"/>
          </a:p>
        </p:txBody>
      </p:sp>
      <p:cxnSp>
        <p:nvCxnSpPr>
          <p:cNvPr id="3" name="Straight Connector 2">
            <a:extLst>
              <a:ext uri="{FF2B5EF4-FFF2-40B4-BE49-F238E27FC236}">
                <a16:creationId xmlns:a16="http://schemas.microsoft.com/office/drawing/2014/main" id="{F84ACC93-17C7-B439-E422-B9A090F6A52E}"/>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8224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91"/>
          <p:cNvSpPr txBox="1"/>
          <p:nvPr/>
        </p:nvSpPr>
        <p:spPr>
          <a:xfrm>
            <a:off x="457200" y="457200"/>
            <a:ext cx="9144000" cy="583321"/>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Conclusion</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94" name="TextBox 93"/>
          <p:cNvSpPr txBox="1"/>
          <p:nvPr/>
        </p:nvSpPr>
        <p:spPr>
          <a:xfrm>
            <a:off x="457200" y="1142640"/>
            <a:ext cx="8723520" cy="1383540"/>
          </a:xfrm>
          <a:prstGeom prst="rect">
            <a:avLst/>
          </a:prstGeom>
          <a:noFill/>
          <a:ln w="0">
            <a:noFill/>
          </a:ln>
        </p:spPr>
        <p:txBody>
          <a:bodyPr lIns="90000" tIns="45000" rIns="90000" bIns="45000" anchor="t">
            <a:spAutoFit/>
          </a:bodyPr>
          <a:lstStyle/>
          <a:p>
            <a:pPr algn="just">
              <a:spcBef>
                <a:spcPts val="1191"/>
              </a:spcBef>
              <a:spcAft>
                <a:spcPts val="992"/>
              </a:spcAft>
            </a:pPr>
            <a:r>
              <a:rPr lang="en-US" sz="2100" b="0" u="none" strike="noStrike" dirty="0">
                <a:solidFill>
                  <a:srgbClr val="000000"/>
                </a:solidFill>
                <a:effectLst/>
                <a:uFillTx/>
                <a:latin typeface="Times New Roman" panose="02020603050405020304" pitchFamily="18" charset="0"/>
                <a:cs typeface="Times New Roman" panose="02020603050405020304" pitchFamily="18" charset="0"/>
              </a:rPr>
              <a:t>The activities booking platform provides a centralized and user-friendly system for discovering and booking recreational activities in Nepal. It enhances local business visibility, streamlines bookings, and supports the growth of tourism and the local economy.</a:t>
            </a:r>
          </a:p>
        </p:txBody>
      </p:sp>
      <p:sp>
        <p:nvSpPr>
          <p:cNvPr id="2" name="PlaceHolder 1"/>
          <p:cNvSpPr>
            <a:spLocks noGrp="1"/>
          </p:cNvSpPr>
          <p:nvPr>
            <p:ph type="sldNum" idx="3"/>
          </p:nvPr>
        </p:nvSpPr>
        <p:spPr/>
        <p:txBody>
          <a:bodyPr/>
          <a:lstStyle/>
          <a:p>
            <a:r>
              <a:rPr dirty="0"/>
              <a:t>27</a:t>
            </a:r>
          </a:p>
        </p:txBody>
      </p:sp>
      <p:cxnSp>
        <p:nvCxnSpPr>
          <p:cNvPr id="3" name="Straight Connector 2">
            <a:extLst>
              <a:ext uri="{FF2B5EF4-FFF2-40B4-BE49-F238E27FC236}">
                <a16:creationId xmlns:a16="http://schemas.microsoft.com/office/drawing/2014/main" id="{47781222-8230-8585-60AE-402513B2DB45}"/>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Box 95"/>
          <p:cNvSpPr txBox="1"/>
          <p:nvPr/>
        </p:nvSpPr>
        <p:spPr>
          <a:xfrm>
            <a:off x="334800" y="422291"/>
            <a:ext cx="9144000" cy="583321"/>
          </a:xfrm>
          <a:prstGeom prst="rect">
            <a:avLst/>
          </a:prstGeom>
          <a:noFill/>
          <a:ln w="0">
            <a:noFill/>
          </a:ln>
        </p:spPr>
        <p:txBody>
          <a:bodyPr lIns="90000" tIns="45000" rIns="90000" bIns="45000" anchor="t">
            <a:spAutoFit/>
          </a:bodyPr>
          <a:lstStyle/>
          <a:p>
            <a:r>
              <a:rPr lang="en-US" sz="3200" b="1" u="none" strike="noStrike" dirty="0">
                <a:solidFill>
                  <a:srgbClr val="000000"/>
                </a:solidFill>
                <a:effectLst/>
                <a:uFillTx/>
                <a:latin typeface="Times New Roman" panose="02020603050405020304" pitchFamily="18" charset="0"/>
                <a:cs typeface="Times New Roman" panose="02020603050405020304" pitchFamily="18" charset="0"/>
              </a:rPr>
              <a:t>References</a:t>
            </a:r>
            <a:endParaRPr lang="en-US"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98" name="TextBox 97"/>
          <p:cNvSpPr txBox="1"/>
          <p:nvPr/>
        </p:nvSpPr>
        <p:spPr>
          <a:xfrm>
            <a:off x="457200" y="1142640"/>
            <a:ext cx="8723520" cy="3148126"/>
          </a:xfrm>
          <a:prstGeom prst="rect">
            <a:avLst/>
          </a:prstGeom>
          <a:noFill/>
          <a:ln w="0">
            <a:noFill/>
          </a:ln>
        </p:spPr>
        <p:txBody>
          <a:bodyPr lIns="90000" tIns="45000" rIns="90000" bIns="45000" anchor="t">
            <a:spAutoFit/>
          </a:bodyPr>
          <a:lstStyle/>
          <a:p>
            <a:pPr marL="432000" lvl="1" indent="-216000" algn="just">
              <a:spcBef>
                <a:spcPts val="1191"/>
              </a:spcBef>
              <a:spcAft>
                <a:spcPts val="992"/>
              </a:spcAft>
              <a:buClr>
                <a:srgbClr val="000000"/>
              </a:buClr>
              <a:buSzPct val="45000"/>
              <a:buFont typeface="Wingdings" charset="2"/>
              <a:buChar char=""/>
            </a:pP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[1] A. </a:t>
            </a:r>
            <a:r>
              <a:rPr lang="en-US" sz="1800" b="0" u="none" strike="noStrike" dirty="0" err="1">
                <a:solidFill>
                  <a:srgbClr val="000000"/>
                </a:solidFill>
                <a:effectLst/>
                <a:uFillTx/>
                <a:latin typeface="Times New Roman" panose="02020603050405020304" pitchFamily="18" charset="0"/>
                <a:cs typeface="Times New Roman" panose="02020603050405020304" pitchFamily="18" charset="0"/>
              </a:rPr>
              <a:t>Buhalis</a:t>
            </a: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 and R. Law, “Progress in information technology and tourism management: 20 years on and 10 years after the Internet—The state of </a:t>
            </a:r>
            <a:r>
              <a:rPr lang="en-US" sz="1800" b="0" u="none" strike="noStrike" dirty="0" err="1">
                <a:solidFill>
                  <a:srgbClr val="000000"/>
                </a:solidFill>
                <a:effectLst/>
                <a:uFillTx/>
                <a:latin typeface="Times New Roman" panose="02020603050405020304" pitchFamily="18" charset="0"/>
                <a:cs typeface="Times New Roman" panose="02020603050405020304" pitchFamily="18" charset="0"/>
              </a:rPr>
              <a:t>eTourism</a:t>
            </a: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 research,” Tourism Management, vol. 29, no. 4, pp. 609–623, 2008.</a:t>
            </a:r>
          </a:p>
          <a:p>
            <a:pPr marL="432000" lvl="1" indent="-216000" algn="just">
              <a:spcBef>
                <a:spcPts val="1191"/>
              </a:spcBef>
              <a:spcAft>
                <a:spcPts val="992"/>
              </a:spcAft>
              <a:buClr>
                <a:srgbClr val="000000"/>
              </a:buClr>
              <a:buSzPct val="45000"/>
              <a:buFont typeface="Wingdings" charset="2"/>
              <a:buChar char=""/>
            </a:pP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[2] N. M. </a:t>
            </a:r>
            <a:r>
              <a:rPr lang="en-US" sz="1800" b="0" u="none" strike="noStrike" dirty="0" err="1">
                <a:solidFill>
                  <a:srgbClr val="000000"/>
                </a:solidFill>
                <a:effectLst/>
                <a:uFillTx/>
                <a:latin typeface="Times New Roman" panose="02020603050405020304" pitchFamily="18" charset="0"/>
                <a:cs typeface="Times New Roman" panose="02020603050405020304" pitchFamily="18" charset="0"/>
              </a:rPr>
              <a:t>Maswera</a:t>
            </a: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 R. Dawson, and J. Edwards, “E-commerce adoption of travel and tourism </a:t>
            </a:r>
            <a:r>
              <a:rPr lang="en-US" sz="1800" b="0" u="none" strike="noStrike" dirty="0" err="1">
                <a:solidFill>
                  <a:srgbClr val="000000"/>
                </a:solidFill>
                <a:effectLst/>
                <a:uFillTx/>
                <a:latin typeface="Times New Roman" panose="02020603050405020304" pitchFamily="18" charset="0"/>
                <a:cs typeface="Times New Roman" panose="02020603050405020304" pitchFamily="18" charset="0"/>
              </a:rPr>
              <a:t>organisations</a:t>
            </a: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 in South Africa, Kenya, Zimbabwe and Uganda,” Telematics and Informatics, vol.25, no. 3, pp. 187–200, 2008.</a:t>
            </a:r>
          </a:p>
          <a:p>
            <a:pPr marL="432000" lvl="1" indent="-216000" algn="just">
              <a:spcBef>
                <a:spcPts val="1191"/>
              </a:spcBef>
              <a:spcAft>
                <a:spcPts val="992"/>
              </a:spcAft>
              <a:buClr>
                <a:srgbClr val="000000"/>
              </a:buClr>
              <a:buSzPct val="45000"/>
              <a:buFont typeface="Wingdings" charset="2"/>
              <a:buChar char=""/>
            </a:pP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[3] </a:t>
            </a:r>
            <a:r>
              <a:rPr lang="en-US" sz="1800" b="0" u="none" strike="noStrike" dirty="0" err="1">
                <a:solidFill>
                  <a:srgbClr val="000000"/>
                </a:solidFill>
                <a:effectLst/>
                <a:uFillTx/>
                <a:latin typeface="Times New Roman" panose="02020603050405020304" pitchFamily="18" charset="0"/>
                <a:cs typeface="Times New Roman" panose="02020603050405020304" pitchFamily="18" charset="0"/>
              </a:rPr>
              <a:t>Sakulsureeyadej</a:t>
            </a: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 A. (2011). How technology is changing global tourism. In World Tourism Organization (UNWTO) Affiliate Members AM-Reports – Technology in Tourism (Vol. 1). World Tourism Organization</a:t>
            </a:r>
          </a:p>
        </p:txBody>
      </p:sp>
      <p:sp>
        <p:nvSpPr>
          <p:cNvPr id="2" name="PlaceHolder 1"/>
          <p:cNvSpPr>
            <a:spLocks noGrp="1"/>
          </p:cNvSpPr>
          <p:nvPr>
            <p:ph type="sldNum" idx="3"/>
          </p:nvPr>
        </p:nvSpPr>
        <p:spPr/>
        <p:txBody>
          <a:bodyPr/>
          <a:lstStyle/>
          <a:p>
            <a:r>
              <a:rPr dirty="0"/>
              <a:t>28</a:t>
            </a:r>
          </a:p>
        </p:txBody>
      </p:sp>
      <p:cxnSp>
        <p:nvCxnSpPr>
          <p:cNvPr id="3" name="Straight Connector 2">
            <a:extLst>
              <a:ext uri="{FF2B5EF4-FFF2-40B4-BE49-F238E27FC236}">
                <a16:creationId xmlns:a16="http://schemas.microsoft.com/office/drawing/2014/main" id="{B64647F9-BDEC-FA65-DA02-E160227C7ACC}"/>
              </a:ext>
            </a:extLst>
          </p:cNvPr>
          <p:cNvCxnSpPr>
            <a:cxnSpLocks/>
          </p:cNvCxnSpPr>
          <p:nvPr/>
        </p:nvCxnSpPr>
        <p:spPr>
          <a:xfrm>
            <a:off x="428400" y="1044000"/>
            <a:ext cx="917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0"/>
          <p:cNvSpPr txBox="1"/>
          <p:nvPr/>
        </p:nvSpPr>
        <p:spPr>
          <a:xfrm>
            <a:off x="1606968" y="2112727"/>
            <a:ext cx="6866688" cy="1445096"/>
          </a:xfrm>
          <a:prstGeom prst="rect">
            <a:avLst/>
          </a:prstGeom>
          <a:noFill/>
          <a:ln w="0">
            <a:noFill/>
          </a:ln>
        </p:spPr>
        <p:txBody>
          <a:bodyPr wrap="square" lIns="90000" tIns="45000" rIns="90000" bIns="45000" anchor="t" anchorCtr="1">
            <a:spAutoFit/>
          </a:bodyPr>
          <a:lstStyle/>
          <a:p>
            <a:pPr algn="ctr">
              <a:spcBef>
                <a:spcPts val="1191"/>
              </a:spcBef>
              <a:spcAft>
                <a:spcPts val="992"/>
              </a:spcAft>
            </a:pPr>
            <a:r>
              <a:rPr lang="en-US" sz="8800" b="0" u="none" strike="noStrike" dirty="0">
                <a:solidFill>
                  <a:srgbClr val="000000"/>
                </a:solidFill>
                <a:effectLst/>
                <a:uFillTx/>
                <a:latin typeface="Arial"/>
              </a:rPr>
              <a:t>Thank You!!!</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defense</Template>
  <TotalTime>86</TotalTime>
  <Words>1254</Words>
  <Application>Microsoft Office PowerPoint</Application>
  <PresentationFormat>Custom</PresentationFormat>
  <Paragraphs>130</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OpenSymbol</vt:lpstr>
      <vt:lpstr>Symbol</vt:lpstr>
      <vt:lpstr>Times New Roman</vt:lpstr>
      <vt:lpstr>Wingdings</vt:lpstr>
      <vt:lpstr>Office</vt:lpstr>
      <vt:lpstr>Activities Booking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Santosh kc</dc:creator>
  <dc:description/>
  <cp:lastModifiedBy>Santosh kc</cp:lastModifiedBy>
  <cp:revision>4</cp:revision>
  <dcterms:created xsi:type="dcterms:W3CDTF">2025-09-22T10:56:18Z</dcterms:created>
  <dcterms:modified xsi:type="dcterms:W3CDTF">2025-12-27T12:49:33Z</dcterms:modified>
  <dc:language>en-US</dc:language>
</cp:coreProperties>
</file>